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7"/>
  </p:notesMasterIdLst>
  <p:sldIdLst>
    <p:sldId id="306" r:id="rId2"/>
    <p:sldId id="319" r:id="rId3"/>
    <p:sldId id="310" r:id="rId4"/>
    <p:sldId id="321" r:id="rId5"/>
    <p:sldId id="315" r:id="rId6"/>
  </p:sldIdLst>
  <p:sldSz cx="9144000" cy="5143500" type="screen16x9"/>
  <p:notesSz cx="6858000" cy="9144000"/>
  <p:embeddedFontLst>
    <p:embeddedFont>
      <p:font typeface="Alexandria" panose="020B0604020202020204" charset="-78"/>
      <p:regular r:id="rId8"/>
      <p:bold r:id="rId9"/>
    </p:embeddedFont>
    <p:embeddedFont>
      <p:font typeface="Alexandria Light" panose="020B0604020202020204" charset="-78"/>
      <p:regular r:id="rId10"/>
      <p:bold r:id="rId11"/>
    </p:embeddedFont>
    <p:embeddedFont>
      <p:font typeface="Bebas Neue" panose="020B0606020202050201" pitchFamily="34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487620-863D-067B-84CA-635F7C80B3B8}" name="Winnie Lau" initials="WL" userId="S::wwlau@uw.edu::0c7f9702-0491-4b6c-902a-8a934d764a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8B0000"/>
    <a:srgbClr val="FF4500"/>
    <a:srgbClr val="333333"/>
    <a:srgbClr val="E6C000"/>
    <a:srgbClr val="FFD700"/>
    <a:srgbClr val="D3D3D3"/>
    <a:srgbClr val="C0C0C0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0EA8D5-EB57-4288-985B-9299F27B1A6A}">
  <a:tblStyle styleId="{490EA8D5-EB57-4288-985B-9299F27B1A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1" autoAdjust="0"/>
  </p:normalViewPr>
  <p:slideViewPr>
    <p:cSldViewPr snapToGrid="0">
      <p:cViewPr varScale="1">
        <p:scale>
          <a:sx n="88" d="100"/>
          <a:sy n="88" d="100"/>
        </p:scale>
        <p:origin x="106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570FC60-72A2-3709-593A-296108DF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3cdcecfb50_0_0:notes">
            <a:extLst>
              <a:ext uri="{FF2B5EF4-FFF2-40B4-BE49-F238E27FC236}">
                <a16:creationId xmlns:a16="http://schemas.microsoft.com/office/drawing/2014/main" id="{296B6DEE-FF85-7685-409F-8AF3F5B66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3cdcecfb50_0_0:notes">
            <a:extLst>
              <a:ext uri="{FF2B5EF4-FFF2-40B4-BE49-F238E27FC236}">
                <a16:creationId xmlns:a16="http://schemas.microsoft.com/office/drawing/2014/main" id="{88C9F66E-B8A4-7E2E-E7DD-A6A141456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838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F0A85D4-A2E5-9E85-3B50-C80849F3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3cdcecfb50_0_18:notes">
            <a:extLst>
              <a:ext uri="{FF2B5EF4-FFF2-40B4-BE49-F238E27FC236}">
                <a16:creationId xmlns:a16="http://schemas.microsoft.com/office/drawing/2014/main" id="{228A4E50-3229-5A4C-9294-D847D9CB0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3cdcecfb50_0_18:notes">
            <a:extLst>
              <a:ext uri="{FF2B5EF4-FFF2-40B4-BE49-F238E27FC236}">
                <a16:creationId xmlns:a16="http://schemas.microsoft.com/office/drawing/2014/main" id="{E09C2C81-B0BE-B68A-77CA-2A3198048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16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7D25122B-4D89-DFF1-D83E-120098FC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7b871a421_0_0:notes">
            <a:extLst>
              <a:ext uri="{FF2B5EF4-FFF2-40B4-BE49-F238E27FC236}">
                <a16:creationId xmlns:a16="http://schemas.microsoft.com/office/drawing/2014/main" id="{68CB11C3-8A26-58A4-6567-64F8A6066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17b871a421_0_0:notes">
            <a:extLst>
              <a:ext uri="{FF2B5EF4-FFF2-40B4-BE49-F238E27FC236}">
                <a16:creationId xmlns:a16="http://schemas.microsoft.com/office/drawing/2014/main" id="{3A69B343-DB49-429D-0B97-D22EF0D2A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25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1B36E303-8750-4688-9616-A61231158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679:notes">
            <a:extLst>
              <a:ext uri="{FF2B5EF4-FFF2-40B4-BE49-F238E27FC236}">
                <a16:creationId xmlns:a16="http://schemas.microsoft.com/office/drawing/2014/main" id="{8A7A49D5-5476-F1E4-A866-C76F2AFD5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679:notes">
            <a:extLst>
              <a:ext uri="{FF2B5EF4-FFF2-40B4-BE49-F238E27FC236}">
                <a16:creationId xmlns:a16="http://schemas.microsoft.com/office/drawing/2014/main" id="{4CA72760-6A38-97A2-21FA-31092D194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1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55050"/>
            <a:ext cx="6594300" cy="245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339571" y="3975150"/>
            <a:ext cx="20913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3"/>
          </p:nvPr>
        </p:nvSpPr>
        <p:spPr>
          <a:xfrm>
            <a:off x="6201225" y="539500"/>
            <a:ext cx="2229600" cy="4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13224" y="2264450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13224" y="3902888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3419250" y="3902888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"/>
          </p:nvPr>
        </p:nvSpPr>
        <p:spPr>
          <a:xfrm>
            <a:off x="3419250" y="2264450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5" hasCustomPrompt="1"/>
          </p:nvPr>
        </p:nvSpPr>
        <p:spPr>
          <a:xfrm>
            <a:off x="2117524" y="138076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4823550" y="301921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2117524" y="301921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8" hasCustomPrompt="1"/>
          </p:nvPr>
        </p:nvSpPr>
        <p:spPr>
          <a:xfrm>
            <a:off x="4823550" y="138076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9"/>
          </p:nvPr>
        </p:nvSpPr>
        <p:spPr>
          <a:xfrm>
            <a:off x="6125275" y="3902888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3"/>
          </p:nvPr>
        </p:nvSpPr>
        <p:spPr>
          <a:xfrm>
            <a:off x="6125275" y="2264450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4" hasCustomPrompt="1"/>
          </p:nvPr>
        </p:nvSpPr>
        <p:spPr>
          <a:xfrm>
            <a:off x="7529575" y="301921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5" hasCustomPrompt="1"/>
          </p:nvPr>
        </p:nvSpPr>
        <p:spPr>
          <a:xfrm>
            <a:off x="7529575" y="1380765"/>
            <a:ext cx="901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dk2"/>
                </a:solidFill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6"/>
          </p:nvPr>
        </p:nvSpPr>
        <p:spPr>
          <a:xfrm>
            <a:off x="713224" y="1959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7"/>
          </p:nvPr>
        </p:nvSpPr>
        <p:spPr>
          <a:xfrm>
            <a:off x="713224" y="3598098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8"/>
          </p:nvPr>
        </p:nvSpPr>
        <p:spPr>
          <a:xfrm>
            <a:off x="3419250" y="3598098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9"/>
          </p:nvPr>
        </p:nvSpPr>
        <p:spPr>
          <a:xfrm>
            <a:off x="3419250" y="1959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0"/>
          </p:nvPr>
        </p:nvSpPr>
        <p:spPr>
          <a:xfrm>
            <a:off x="6125275" y="3598098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21"/>
          </p:nvPr>
        </p:nvSpPr>
        <p:spPr>
          <a:xfrm>
            <a:off x="6125275" y="1959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72" name="Google Shape;72;p13"/>
          <p:cNvCxnSpPr/>
          <p:nvPr/>
        </p:nvCxnSpPr>
        <p:spPr>
          <a:xfrm>
            <a:off x="344550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13"/>
          <p:cNvCxnSpPr/>
          <p:nvPr/>
        </p:nvCxnSpPr>
        <p:spPr>
          <a:xfrm>
            <a:off x="344550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8" name="Google Shape;158;p25"/>
          <p:cNvCxnSpPr/>
          <p:nvPr/>
        </p:nvCxnSpPr>
        <p:spPr>
          <a:xfrm>
            <a:off x="344550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5"/>
          <p:cNvCxnSpPr/>
          <p:nvPr/>
        </p:nvCxnSpPr>
        <p:spPr>
          <a:xfrm>
            <a:off x="344550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26"/>
          <p:cNvCxnSpPr/>
          <p:nvPr/>
        </p:nvCxnSpPr>
        <p:spPr>
          <a:xfrm>
            <a:off x="344550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6"/>
          <p:cNvCxnSpPr/>
          <p:nvPr/>
        </p:nvCxnSpPr>
        <p:spPr>
          <a:xfrm>
            <a:off x="344550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9"/>
          <p:cNvCxnSpPr/>
          <p:nvPr/>
        </p:nvCxnSpPr>
        <p:spPr>
          <a:xfrm>
            <a:off x="344550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9"/>
          <p:cNvCxnSpPr/>
          <p:nvPr/>
        </p:nvCxnSpPr>
        <p:spPr>
          <a:xfrm>
            <a:off x="344550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9"/>
          <p:cNvCxnSpPr/>
          <p:nvPr/>
        </p:nvCxnSpPr>
        <p:spPr>
          <a:xfrm>
            <a:off x="344550" y="104463"/>
            <a:ext cx="845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9"/>
          <p:cNvCxnSpPr/>
          <p:nvPr/>
        </p:nvCxnSpPr>
        <p:spPr>
          <a:xfrm>
            <a:off x="344550" y="5039038"/>
            <a:ext cx="84549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30"/>
          <p:cNvCxnSpPr/>
          <p:nvPr/>
        </p:nvCxnSpPr>
        <p:spPr>
          <a:xfrm>
            <a:off x="344550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30"/>
          <p:cNvCxnSpPr/>
          <p:nvPr/>
        </p:nvCxnSpPr>
        <p:spPr>
          <a:xfrm>
            <a:off x="344550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59" r:id="rId4"/>
    <p:sldLayoutId id="2147483671" r:id="rId5"/>
    <p:sldLayoutId id="2147483672" r:id="rId6"/>
    <p:sldLayoutId id="2147483675" r:id="rId7"/>
    <p:sldLayoutId id="214748367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6BDD621-B708-54EE-0A7E-0AB31506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4">
            <a:extLst>
              <a:ext uri="{FF2B5EF4-FFF2-40B4-BE49-F238E27FC236}">
                <a16:creationId xmlns:a16="http://schemas.microsoft.com/office/drawing/2014/main" id="{D60F88ED-264F-C75D-7FF8-087D9C5F5B2E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 amt="40000"/>
          </a:blip>
          <a:srcRect t="7798" b="7806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65F96EBA-5B76-19D0-45A0-61159BAFF8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225" y="1155050"/>
            <a:ext cx="7158566" cy="245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Food Access Program Deployment Plan</a:t>
            </a:r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0E601FEC-1BE3-8952-B909-18A4571717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90662" y="3975150"/>
            <a:ext cx="364021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N1 Health Analyst Data Challenge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Completed by Winnie Lau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199" name="Google Shape;199;p34">
            <a:extLst>
              <a:ext uri="{FF2B5EF4-FFF2-40B4-BE49-F238E27FC236}">
                <a16:creationId xmlns:a16="http://schemas.microsoft.com/office/drawing/2014/main" id="{D594E873-A442-C6EE-3E1D-D54E14603AD6}"/>
              </a:ext>
            </a:extLst>
          </p:cNvPr>
          <p:cNvCxnSpPr/>
          <p:nvPr/>
        </p:nvCxnSpPr>
        <p:spPr>
          <a:xfrm>
            <a:off x="304175" y="2316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34">
            <a:extLst>
              <a:ext uri="{FF2B5EF4-FFF2-40B4-BE49-F238E27FC236}">
                <a16:creationId xmlns:a16="http://schemas.microsoft.com/office/drawing/2014/main" id="{0C02EDF8-E587-A170-89F7-DD80A5C070BD}"/>
              </a:ext>
            </a:extLst>
          </p:cNvPr>
          <p:cNvCxnSpPr/>
          <p:nvPr/>
        </p:nvCxnSpPr>
        <p:spPr>
          <a:xfrm>
            <a:off x="304175" y="4911900"/>
            <a:ext cx="8454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8742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883A9A61-4E8B-72E1-212D-5808B441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>
            <a:extLst>
              <a:ext uri="{FF2B5EF4-FFF2-40B4-BE49-F238E27FC236}">
                <a16:creationId xmlns:a16="http://schemas.microsoft.com/office/drawing/2014/main" id="{52609526-9B96-5156-53CD-23A6E3EF3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216" name="Google Shape;216;p36">
            <a:extLst>
              <a:ext uri="{FF2B5EF4-FFF2-40B4-BE49-F238E27FC236}">
                <a16:creationId xmlns:a16="http://schemas.microsoft.com/office/drawing/2014/main" id="{947AC11B-FCA2-36D5-BA49-0C4250A43D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7600" y="2661186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 should the food access program be deployed?</a:t>
            </a:r>
            <a:endParaRPr dirty="0"/>
          </a:p>
        </p:txBody>
      </p:sp>
      <p:sp>
        <p:nvSpPr>
          <p:cNvPr id="218" name="Google Shape;218;p36">
            <a:extLst>
              <a:ext uri="{FF2B5EF4-FFF2-40B4-BE49-F238E27FC236}">
                <a16:creationId xmlns:a16="http://schemas.microsoft.com/office/drawing/2014/main" id="{30B0863A-5AA2-9F43-3B19-FCA10E7E90B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44385" y="2661186"/>
            <a:ext cx="2305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Which subgroups are impacted by the program?</a:t>
            </a:r>
            <a:endParaRPr dirty="0"/>
          </a:p>
        </p:txBody>
      </p:sp>
      <p:sp>
        <p:nvSpPr>
          <p:cNvPr id="219" name="Google Shape;219;p36">
            <a:extLst>
              <a:ext uri="{FF2B5EF4-FFF2-40B4-BE49-F238E27FC236}">
                <a16:creationId xmlns:a16="http://schemas.microsoft.com/office/drawing/2014/main" id="{A2D1DF10-E529-7A81-3390-9543ED5DFFBB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965124" y="1380765"/>
            <a:ext cx="901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2" name="Google Shape;222;p36">
            <a:extLst>
              <a:ext uri="{FF2B5EF4-FFF2-40B4-BE49-F238E27FC236}">
                <a16:creationId xmlns:a16="http://schemas.microsoft.com/office/drawing/2014/main" id="{8EEE4BEE-4A01-8A04-D315-9010482F539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741909" y="1380765"/>
            <a:ext cx="901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4" name="Google Shape;224;p36">
            <a:extLst>
              <a:ext uri="{FF2B5EF4-FFF2-40B4-BE49-F238E27FC236}">
                <a16:creationId xmlns:a16="http://schemas.microsoft.com/office/drawing/2014/main" id="{AC8F59F0-66AF-F30C-EC1C-1015939B504E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057900" y="2661186"/>
            <a:ext cx="239598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projected  participation? What are the health and socioeconomic impacts?</a:t>
            </a:r>
            <a:endParaRPr dirty="0"/>
          </a:p>
        </p:txBody>
      </p:sp>
      <p:sp>
        <p:nvSpPr>
          <p:cNvPr id="226" name="Google Shape;226;p36">
            <a:extLst>
              <a:ext uri="{FF2B5EF4-FFF2-40B4-BE49-F238E27FC236}">
                <a16:creationId xmlns:a16="http://schemas.microsoft.com/office/drawing/2014/main" id="{6BA60080-51EE-2AFD-1FCC-DC71642DD8AB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545904" y="1380765"/>
            <a:ext cx="901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4CB8602A-FFBB-6671-2594-DA5619C7CD29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567600" y="2318286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Areas of Deployment</a:t>
            </a:r>
            <a:endParaRPr dirty="0"/>
          </a:p>
        </p:txBody>
      </p:sp>
      <p:sp>
        <p:nvSpPr>
          <p:cNvPr id="230" name="Google Shape;230;p36">
            <a:extLst>
              <a:ext uri="{FF2B5EF4-FFF2-40B4-BE49-F238E27FC236}">
                <a16:creationId xmlns:a16="http://schemas.microsoft.com/office/drawing/2014/main" id="{983ABC64-C8C7-F5A1-D1B2-B704D3F3F7D2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3344385" y="2318286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Demographic Breakdown</a:t>
            </a:r>
            <a:endParaRPr dirty="0"/>
          </a:p>
        </p:txBody>
      </p:sp>
      <p:sp>
        <p:nvSpPr>
          <p:cNvPr id="232" name="Google Shape;232;p36">
            <a:extLst>
              <a:ext uri="{FF2B5EF4-FFF2-40B4-BE49-F238E27FC236}">
                <a16:creationId xmlns:a16="http://schemas.microsoft.com/office/drawing/2014/main" id="{A6121489-4D7B-CECD-93D7-156E5204AF3C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6148380" y="2318286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Effects of the Program</a:t>
            </a:r>
            <a:endParaRPr dirty="0"/>
          </a:p>
        </p:txBody>
      </p:sp>
      <p:cxnSp>
        <p:nvCxnSpPr>
          <p:cNvPr id="233" name="Google Shape;233;p36">
            <a:extLst>
              <a:ext uri="{FF2B5EF4-FFF2-40B4-BE49-F238E27FC236}">
                <a16:creationId xmlns:a16="http://schemas.microsoft.com/office/drawing/2014/main" id="{3F563048-EFEC-ECE8-A54F-F332A051AF16}"/>
              </a:ext>
            </a:extLst>
          </p:cNvPr>
          <p:cNvCxnSpPr/>
          <p:nvPr/>
        </p:nvCxnSpPr>
        <p:spPr>
          <a:xfrm>
            <a:off x="649075" y="1849525"/>
            <a:ext cx="217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36">
            <a:extLst>
              <a:ext uri="{FF2B5EF4-FFF2-40B4-BE49-F238E27FC236}">
                <a16:creationId xmlns:a16="http://schemas.microsoft.com/office/drawing/2014/main" id="{F44B32C1-4A03-00D8-3E28-70A7B640BB0F}"/>
              </a:ext>
            </a:extLst>
          </p:cNvPr>
          <p:cNvCxnSpPr/>
          <p:nvPr/>
        </p:nvCxnSpPr>
        <p:spPr>
          <a:xfrm>
            <a:off x="3436472" y="1849525"/>
            <a:ext cx="217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36">
            <a:extLst>
              <a:ext uri="{FF2B5EF4-FFF2-40B4-BE49-F238E27FC236}">
                <a16:creationId xmlns:a16="http://schemas.microsoft.com/office/drawing/2014/main" id="{91B7105E-2C62-17E4-094F-C9000A33B8DF}"/>
              </a:ext>
            </a:extLst>
          </p:cNvPr>
          <p:cNvCxnSpPr/>
          <p:nvPr/>
        </p:nvCxnSpPr>
        <p:spPr>
          <a:xfrm>
            <a:off x="6232981" y="1849525"/>
            <a:ext cx="217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9180;p77">
            <a:extLst>
              <a:ext uri="{FF2B5EF4-FFF2-40B4-BE49-F238E27FC236}">
                <a16:creationId xmlns:a16="http://schemas.microsoft.com/office/drawing/2014/main" id="{5686752B-2344-4828-CD1D-236C9727FE1D}"/>
              </a:ext>
            </a:extLst>
          </p:cNvPr>
          <p:cNvGrpSpPr/>
          <p:nvPr/>
        </p:nvGrpSpPr>
        <p:grpSpPr>
          <a:xfrm>
            <a:off x="3536044" y="1415125"/>
            <a:ext cx="366269" cy="366269"/>
            <a:chOff x="-65131525" y="2281350"/>
            <a:chExt cx="316650" cy="316650"/>
          </a:xfrm>
        </p:grpSpPr>
        <p:sp>
          <p:nvSpPr>
            <p:cNvPr id="21" name="Google Shape;9181;p77">
              <a:extLst>
                <a:ext uri="{FF2B5EF4-FFF2-40B4-BE49-F238E27FC236}">
                  <a16:creationId xmlns:a16="http://schemas.microsoft.com/office/drawing/2014/main" id="{FC0431FB-F349-0D60-3459-BBBDB132BB4D}"/>
                </a:ext>
              </a:extLst>
            </p:cNvPr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182;p77">
              <a:extLst>
                <a:ext uri="{FF2B5EF4-FFF2-40B4-BE49-F238E27FC236}">
                  <a16:creationId xmlns:a16="http://schemas.microsoft.com/office/drawing/2014/main" id="{4B918EAE-057D-8B12-6911-3E819CBFB21E}"/>
                </a:ext>
              </a:extLst>
            </p:cNvPr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8575;p75">
            <a:extLst>
              <a:ext uri="{FF2B5EF4-FFF2-40B4-BE49-F238E27FC236}">
                <a16:creationId xmlns:a16="http://schemas.microsoft.com/office/drawing/2014/main" id="{BE2A059B-ADC8-1271-3BDB-8E49B8B45919}"/>
              </a:ext>
            </a:extLst>
          </p:cNvPr>
          <p:cNvGrpSpPr/>
          <p:nvPr/>
        </p:nvGrpSpPr>
        <p:grpSpPr>
          <a:xfrm>
            <a:off x="779136" y="1451841"/>
            <a:ext cx="298996" cy="340204"/>
            <a:chOff x="1516475" y="238075"/>
            <a:chExt cx="424650" cy="483175"/>
          </a:xfrm>
        </p:grpSpPr>
        <p:sp>
          <p:nvSpPr>
            <p:cNvPr id="24" name="Google Shape;8576;p75">
              <a:extLst>
                <a:ext uri="{FF2B5EF4-FFF2-40B4-BE49-F238E27FC236}">
                  <a16:creationId xmlns:a16="http://schemas.microsoft.com/office/drawing/2014/main" id="{54FABFA0-5057-8333-DA92-4B0C8B0CAC2D}"/>
                </a:ext>
              </a:extLst>
            </p:cNvPr>
            <p:cNvSpPr/>
            <p:nvPr/>
          </p:nvSpPr>
          <p:spPr>
            <a:xfrm>
              <a:off x="1516475" y="238075"/>
              <a:ext cx="424650" cy="483175"/>
            </a:xfrm>
            <a:custGeom>
              <a:avLst/>
              <a:gdLst/>
              <a:ahLst/>
              <a:cxnLst/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577;p75">
              <a:extLst>
                <a:ext uri="{FF2B5EF4-FFF2-40B4-BE49-F238E27FC236}">
                  <a16:creationId xmlns:a16="http://schemas.microsoft.com/office/drawing/2014/main" id="{5B6D152A-C42B-905A-2021-482FFE409F47}"/>
                </a:ext>
              </a:extLst>
            </p:cNvPr>
            <p:cNvSpPr/>
            <p:nvPr/>
          </p:nvSpPr>
          <p:spPr>
            <a:xfrm>
              <a:off x="1652425" y="324000"/>
              <a:ext cx="147150" cy="141575"/>
            </a:xfrm>
            <a:custGeom>
              <a:avLst/>
              <a:gdLst/>
              <a:ahLst/>
              <a:cxnLst/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" name="Google Shape;806;p62">
            <a:extLst>
              <a:ext uri="{FF2B5EF4-FFF2-40B4-BE49-F238E27FC236}">
                <a16:creationId xmlns:a16="http://schemas.microsoft.com/office/drawing/2014/main" id="{9153840C-1D6F-CC6E-1069-8A6E7B02F446}"/>
              </a:ext>
            </a:extLst>
          </p:cNvPr>
          <p:cNvGrpSpPr/>
          <p:nvPr/>
        </p:nvGrpSpPr>
        <p:grpSpPr>
          <a:xfrm>
            <a:off x="6340803" y="1451841"/>
            <a:ext cx="365760" cy="365760"/>
            <a:chOff x="3959383" y="2686699"/>
            <a:chExt cx="419840" cy="416080"/>
          </a:xfrm>
        </p:grpSpPr>
        <p:sp>
          <p:nvSpPr>
            <p:cNvPr id="27" name="Google Shape;807;p62">
              <a:extLst>
                <a:ext uri="{FF2B5EF4-FFF2-40B4-BE49-F238E27FC236}">
                  <a16:creationId xmlns:a16="http://schemas.microsoft.com/office/drawing/2014/main" id="{C59F781D-EB0F-469B-65DD-C391754D5BE9}"/>
                </a:ext>
              </a:extLst>
            </p:cNvPr>
            <p:cNvSpPr/>
            <p:nvPr/>
          </p:nvSpPr>
          <p:spPr>
            <a:xfrm>
              <a:off x="3959383" y="2686699"/>
              <a:ext cx="419840" cy="416080"/>
            </a:xfrm>
            <a:custGeom>
              <a:avLst/>
              <a:gdLst/>
              <a:ahLst/>
              <a:cxnLst/>
              <a:rect l="l" t="t" r="r" b="b"/>
              <a:pathLst>
                <a:path w="10829" h="10732" extrusionOk="0">
                  <a:moveTo>
                    <a:pt x="4693" y="631"/>
                  </a:moveTo>
                  <a:lnTo>
                    <a:pt x="4693" y="1001"/>
                  </a:lnTo>
                  <a:cubicBezTo>
                    <a:pt x="4693" y="1143"/>
                    <a:pt x="4577" y="1259"/>
                    <a:pt x="4435" y="1259"/>
                  </a:cubicBezTo>
                  <a:lnTo>
                    <a:pt x="2917" y="1259"/>
                  </a:lnTo>
                  <a:cubicBezTo>
                    <a:pt x="2776" y="1259"/>
                    <a:pt x="2659" y="1143"/>
                    <a:pt x="2659" y="1001"/>
                  </a:cubicBezTo>
                  <a:lnTo>
                    <a:pt x="2659" y="631"/>
                  </a:lnTo>
                  <a:close/>
                  <a:moveTo>
                    <a:pt x="6486" y="4563"/>
                  </a:moveTo>
                  <a:cubicBezTo>
                    <a:pt x="6749" y="4565"/>
                    <a:pt x="7112" y="4622"/>
                    <a:pt x="7316" y="4830"/>
                  </a:cubicBezTo>
                  <a:cubicBezTo>
                    <a:pt x="7500" y="5014"/>
                    <a:pt x="7565" y="5322"/>
                    <a:pt x="7581" y="5573"/>
                  </a:cubicBezTo>
                  <a:cubicBezTo>
                    <a:pt x="7508" y="5546"/>
                    <a:pt x="7431" y="5520"/>
                    <a:pt x="7347" y="5499"/>
                  </a:cubicBezTo>
                  <a:cubicBezTo>
                    <a:pt x="7217" y="5467"/>
                    <a:pt x="7068" y="5444"/>
                    <a:pt x="6905" y="5444"/>
                  </a:cubicBezTo>
                  <a:cubicBezTo>
                    <a:pt x="6875" y="5444"/>
                    <a:pt x="6844" y="5445"/>
                    <a:pt x="6814" y="5446"/>
                  </a:cubicBezTo>
                  <a:cubicBezTo>
                    <a:pt x="6555" y="5251"/>
                    <a:pt x="6492" y="4852"/>
                    <a:pt x="6486" y="4563"/>
                  </a:cubicBezTo>
                  <a:close/>
                  <a:moveTo>
                    <a:pt x="6722" y="1260"/>
                  </a:moveTo>
                  <a:lnTo>
                    <a:pt x="6722" y="3948"/>
                  </a:lnTo>
                  <a:cubicBezTo>
                    <a:pt x="6621" y="3937"/>
                    <a:pt x="6527" y="3934"/>
                    <a:pt x="6446" y="3934"/>
                  </a:cubicBezTo>
                  <a:cubicBezTo>
                    <a:pt x="6275" y="3934"/>
                    <a:pt x="6158" y="3950"/>
                    <a:pt x="6144" y="3951"/>
                  </a:cubicBezTo>
                  <a:cubicBezTo>
                    <a:pt x="6005" y="3971"/>
                    <a:pt x="5896" y="4080"/>
                    <a:pt x="5876" y="4219"/>
                  </a:cubicBezTo>
                  <a:cubicBezTo>
                    <a:pt x="5870" y="4258"/>
                    <a:pt x="5766" y="5047"/>
                    <a:pt x="6139" y="5625"/>
                  </a:cubicBezTo>
                  <a:cubicBezTo>
                    <a:pt x="5989" y="5698"/>
                    <a:pt x="5837" y="5797"/>
                    <a:pt x="5685" y="5930"/>
                  </a:cubicBezTo>
                  <a:cubicBezTo>
                    <a:pt x="5156" y="6391"/>
                    <a:pt x="4959" y="7011"/>
                    <a:pt x="5099" y="7773"/>
                  </a:cubicBezTo>
                  <a:cubicBezTo>
                    <a:pt x="5145" y="8024"/>
                    <a:pt x="5222" y="8269"/>
                    <a:pt x="5317" y="8504"/>
                  </a:cubicBezTo>
                  <a:lnTo>
                    <a:pt x="632" y="8504"/>
                  </a:lnTo>
                  <a:lnTo>
                    <a:pt x="632" y="1260"/>
                  </a:lnTo>
                  <a:lnTo>
                    <a:pt x="2070" y="1260"/>
                  </a:lnTo>
                  <a:cubicBezTo>
                    <a:pt x="2180" y="1623"/>
                    <a:pt x="2519" y="1887"/>
                    <a:pt x="2918" y="1887"/>
                  </a:cubicBezTo>
                  <a:lnTo>
                    <a:pt x="4436" y="1887"/>
                  </a:lnTo>
                  <a:cubicBezTo>
                    <a:pt x="4835" y="1887"/>
                    <a:pt x="5174" y="1622"/>
                    <a:pt x="5285" y="1260"/>
                  </a:cubicBezTo>
                  <a:close/>
                  <a:moveTo>
                    <a:pt x="6905" y="6073"/>
                  </a:moveTo>
                  <a:cubicBezTo>
                    <a:pt x="6993" y="6073"/>
                    <a:pt x="7082" y="6083"/>
                    <a:pt x="7173" y="6105"/>
                  </a:cubicBezTo>
                  <a:cubicBezTo>
                    <a:pt x="7479" y="6175"/>
                    <a:pt x="7691" y="6344"/>
                    <a:pt x="7693" y="6344"/>
                  </a:cubicBezTo>
                  <a:cubicBezTo>
                    <a:pt x="7751" y="6392"/>
                    <a:pt x="7821" y="6416"/>
                    <a:pt x="7892" y="6416"/>
                  </a:cubicBezTo>
                  <a:cubicBezTo>
                    <a:pt x="7962" y="6416"/>
                    <a:pt x="8033" y="6392"/>
                    <a:pt x="8091" y="6344"/>
                  </a:cubicBezTo>
                  <a:cubicBezTo>
                    <a:pt x="8092" y="6343"/>
                    <a:pt x="8293" y="6183"/>
                    <a:pt x="8590" y="6110"/>
                  </a:cubicBezTo>
                  <a:cubicBezTo>
                    <a:pt x="8687" y="6086"/>
                    <a:pt x="8783" y="6073"/>
                    <a:pt x="8878" y="6073"/>
                  </a:cubicBezTo>
                  <a:cubicBezTo>
                    <a:pt x="9163" y="6073"/>
                    <a:pt x="9435" y="6184"/>
                    <a:pt x="9688" y="6405"/>
                  </a:cubicBezTo>
                  <a:cubicBezTo>
                    <a:pt x="10469" y="7082"/>
                    <a:pt x="10003" y="8131"/>
                    <a:pt x="9506" y="9059"/>
                  </a:cubicBezTo>
                  <a:cubicBezTo>
                    <a:pt x="9325" y="9399"/>
                    <a:pt x="9113" y="9849"/>
                    <a:pt x="8877" y="10009"/>
                  </a:cubicBezTo>
                  <a:cubicBezTo>
                    <a:pt x="8782" y="10076"/>
                    <a:pt x="8675" y="10102"/>
                    <a:pt x="8566" y="10102"/>
                  </a:cubicBezTo>
                  <a:cubicBezTo>
                    <a:pt x="8382" y="10102"/>
                    <a:pt x="8189" y="10028"/>
                    <a:pt x="8024" y="9952"/>
                  </a:cubicBezTo>
                  <a:cubicBezTo>
                    <a:pt x="7982" y="9933"/>
                    <a:pt x="7938" y="9924"/>
                    <a:pt x="7893" y="9924"/>
                  </a:cubicBezTo>
                  <a:cubicBezTo>
                    <a:pt x="7848" y="9924"/>
                    <a:pt x="7803" y="9933"/>
                    <a:pt x="7761" y="9952"/>
                  </a:cubicBezTo>
                  <a:cubicBezTo>
                    <a:pt x="7596" y="10028"/>
                    <a:pt x="7403" y="10102"/>
                    <a:pt x="7219" y="10102"/>
                  </a:cubicBezTo>
                  <a:cubicBezTo>
                    <a:pt x="7110" y="10102"/>
                    <a:pt x="7004" y="10076"/>
                    <a:pt x="6909" y="10009"/>
                  </a:cubicBezTo>
                  <a:cubicBezTo>
                    <a:pt x="6673" y="9849"/>
                    <a:pt x="6461" y="9399"/>
                    <a:pt x="6279" y="9059"/>
                  </a:cubicBezTo>
                  <a:cubicBezTo>
                    <a:pt x="5782" y="8130"/>
                    <a:pt x="5316" y="7082"/>
                    <a:pt x="6095" y="6404"/>
                  </a:cubicBezTo>
                  <a:cubicBezTo>
                    <a:pt x="6348" y="6184"/>
                    <a:pt x="6620" y="6073"/>
                    <a:pt x="6905" y="6073"/>
                  </a:cubicBezTo>
                  <a:close/>
                  <a:moveTo>
                    <a:pt x="2343" y="1"/>
                  </a:moveTo>
                  <a:cubicBezTo>
                    <a:pt x="2169" y="1"/>
                    <a:pt x="2028" y="141"/>
                    <a:pt x="2028" y="315"/>
                  </a:cubicBezTo>
                  <a:lnTo>
                    <a:pt x="2028" y="630"/>
                  </a:lnTo>
                  <a:lnTo>
                    <a:pt x="315" y="630"/>
                  </a:lnTo>
                  <a:cubicBezTo>
                    <a:pt x="141" y="630"/>
                    <a:pt x="1" y="770"/>
                    <a:pt x="1" y="945"/>
                  </a:cubicBezTo>
                  <a:lnTo>
                    <a:pt x="1" y="8819"/>
                  </a:lnTo>
                  <a:cubicBezTo>
                    <a:pt x="1" y="8992"/>
                    <a:pt x="141" y="9134"/>
                    <a:pt x="315" y="9134"/>
                  </a:cubicBezTo>
                  <a:lnTo>
                    <a:pt x="5605" y="9134"/>
                  </a:lnTo>
                  <a:cubicBezTo>
                    <a:pt x="5874" y="9620"/>
                    <a:pt x="6114" y="10219"/>
                    <a:pt x="6544" y="10524"/>
                  </a:cubicBezTo>
                  <a:cubicBezTo>
                    <a:pt x="6741" y="10662"/>
                    <a:pt x="6960" y="10731"/>
                    <a:pt x="7205" y="10731"/>
                  </a:cubicBezTo>
                  <a:cubicBezTo>
                    <a:pt x="7414" y="10731"/>
                    <a:pt x="7641" y="10681"/>
                    <a:pt x="7890" y="10581"/>
                  </a:cubicBezTo>
                  <a:cubicBezTo>
                    <a:pt x="8139" y="10682"/>
                    <a:pt x="8366" y="10731"/>
                    <a:pt x="8575" y="10731"/>
                  </a:cubicBezTo>
                  <a:cubicBezTo>
                    <a:pt x="8820" y="10731"/>
                    <a:pt x="9040" y="10662"/>
                    <a:pt x="9236" y="10524"/>
                  </a:cubicBezTo>
                  <a:cubicBezTo>
                    <a:pt x="9605" y="10267"/>
                    <a:pt x="9826" y="9790"/>
                    <a:pt x="10057" y="9358"/>
                  </a:cubicBezTo>
                  <a:cubicBezTo>
                    <a:pt x="10306" y="8892"/>
                    <a:pt x="10581" y="8347"/>
                    <a:pt x="10686" y="7774"/>
                  </a:cubicBezTo>
                  <a:cubicBezTo>
                    <a:pt x="10828" y="7010"/>
                    <a:pt x="10631" y="6391"/>
                    <a:pt x="10101" y="5930"/>
                  </a:cubicBezTo>
                  <a:cubicBezTo>
                    <a:pt x="9670" y="5556"/>
                    <a:pt x="9240" y="5444"/>
                    <a:pt x="8879" y="5444"/>
                  </a:cubicBezTo>
                  <a:cubicBezTo>
                    <a:pt x="8716" y="5444"/>
                    <a:pt x="8567" y="5467"/>
                    <a:pt x="8438" y="5499"/>
                  </a:cubicBezTo>
                  <a:cubicBezTo>
                    <a:pt x="8381" y="5514"/>
                    <a:pt x="8326" y="5530"/>
                    <a:pt x="8274" y="5548"/>
                  </a:cubicBezTo>
                  <a:cubicBezTo>
                    <a:pt x="8355" y="5167"/>
                    <a:pt x="8525" y="4658"/>
                    <a:pt x="8882" y="4242"/>
                  </a:cubicBezTo>
                  <a:cubicBezTo>
                    <a:pt x="8995" y="4110"/>
                    <a:pt x="8980" y="3912"/>
                    <a:pt x="8849" y="3798"/>
                  </a:cubicBezTo>
                  <a:cubicBezTo>
                    <a:pt x="8789" y="3747"/>
                    <a:pt x="8717" y="3722"/>
                    <a:pt x="8644" y="3722"/>
                  </a:cubicBezTo>
                  <a:cubicBezTo>
                    <a:pt x="8556" y="3722"/>
                    <a:pt x="8468" y="3759"/>
                    <a:pt x="8405" y="3831"/>
                  </a:cubicBezTo>
                  <a:cubicBezTo>
                    <a:pt x="8199" y="4073"/>
                    <a:pt x="8042" y="4333"/>
                    <a:pt x="7926" y="4590"/>
                  </a:cubicBezTo>
                  <a:cubicBezTo>
                    <a:pt x="7879" y="4518"/>
                    <a:pt x="7823" y="4449"/>
                    <a:pt x="7760" y="4383"/>
                  </a:cubicBezTo>
                  <a:cubicBezTo>
                    <a:pt x="7637" y="4261"/>
                    <a:pt x="7495" y="4171"/>
                    <a:pt x="7348" y="4105"/>
                  </a:cubicBezTo>
                  <a:lnTo>
                    <a:pt x="7348" y="945"/>
                  </a:lnTo>
                  <a:cubicBezTo>
                    <a:pt x="7348" y="770"/>
                    <a:pt x="7208" y="630"/>
                    <a:pt x="7034" y="630"/>
                  </a:cubicBezTo>
                  <a:lnTo>
                    <a:pt x="5320" y="630"/>
                  </a:lnTo>
                  <a:lnTo>
                    <a:pt x="5320" y="315"/>
                  </a:lnTo>
                  <a:cubicBezTo>
                    <a:pt x="5320" y="141"/>
                    <a:pt x="5180" y="1"/>
                    <a:pt x="5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08;p62">
              <a:extLst>
                <a:ext uri="{FF2B5EF4-FFF2-40B4-BE49-F238E27FC236}">
                  <a16:creationId xmlns:a16="http://schemas.microsoft.com/office/drawing/2014/main" id="{4376CF96-F372-1D58-2757-BAE3BFB48DAD}"/>
                </a:ext>
              </a:extLst>
            </p:cNvPr>
            <p:cNvSpPr/>
            <p:nvPr/>
          </p:nvSpPr>
          <p:spPr>
            <a:xfrm>
              <a:off x="4008194" y="2784205"/>
              <a:ext cx="187337" cy="24464"/>
            </a:xfrm>
            <a:custGeom>
              <a:avLst/>
              <a:gdLst/>
              <a:ahLst/>
              <a:cxnLst/>
              <a:rect l="l" t="t" r="r" b="b"/>
              <a:pathLst>
                <a:path w="4832" h="631" extrusionOk="0">
                  <a:moveTo>
                    <a:pt x="315" y="1"/>
                  </a:moveTo>
                  <a:cubicBezTo>
                    <a:pt x="141" y="1"/>
                    <a:pt x="1" y="141"/>
                    <a:pt x="1" y="315"/>
                  </a:cubicBezTo>
                  <a:cubicBezTo>
                    <a:pt x="2" y="490"/>
                    <a:pt x="142" y="630"/>
                    <a:pt x="315" y="630"/>
                  </a:cubicBezTo>
                  <a:lnTo>
                    <a:pt x="4517" y="630"/>
                  </a:lnTo>
                  <a:cubicBezTo>
                    <a:pt x="4691" y="630"/>
                    <a:pt x="4831" y="490"/>
                    <a:pt x="4831" y="315"/>
                  </a:cubicBezTo>
                  <a:cubicBezTo>
                    <a:pt x="4831" y="141"/>
                    <a:pt x="4691" y="1"/>
                    <a:pt x="4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09;p62">
              <a:extLst>
                <a:ext uri="{FF2B5EF4-FFF2-40B4-BE49-F238E27FC236}">
                  <a16:creationId xmlns:a16="http://schemas.microsoft.com/office/drawing/2014/main" id="{01F10289-1F79-FE56-696A-E0CFB82893B7}"/>
                </a:ext>
              </a:extLst>
            </p:cNvPr>
            <p:cNvSpPr/>
            <p:nvPr/>
          </p:nvSpPr>
          <p:spPr>
            <a:xfrm>
              <a:off x="4056967" y="2832978"/>
              <a:ext cx="73392" cy="24464"/>
            </a:xfrm>
            <a:custGeom>
              <a:avLst/>
              <a:gdLst/>
              <a:ahLst/>
              <a:cxnLst/>
              <a:rect l="l" t="t" r="r" b="b"/>
              <a:pathLst>
                <a:path w="1893" h="631" extrusionOk="0">
                  <a:moveTo>
                    <a:pt x="315" y="1"/>
                  </a:moveTo>
                  <a:cubicBezTo>
                    <a:pt x="141" y="1"/>
                    <a:pt x="1" y="141"/>
                    <a:pt x="1" y="315"/>
                  </a:cubicBezTo>
                  <a:cubicBezTo>
                    <a:pt x="1" y="490"/>
                    <a:pt x="141" y="630"/>
                    <a:pt x="315" y="630"/>
                  </a:cubicBezTo>
                  <a:lnTo>
                    <a:pt x="1577" y="630"/>
                  </a:lnTo>
                  <a:cubicBezTo>
                    <a:pt x="1752" y="630"/>
                    <a:pt x="1892" y="490"/>
                    <a:pt x="1892" y="315"/>
                  </a:cubicBezTo>
                  <a:cubicBezTo>
                    <a:pt x="1892" y="141"/>
                    <a:pt x="1752" y="1"/>
                    <a:pt x="1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10;p62">
              <a:extLst>
                <a:ext uri="{FF2B5EF4-FFF2-40B4-BE49-F238E27FC236}">
                  <a16:creationId xmlns:a16="http://schemas.microsoft.com/office/drawing/2014/main" id="{EFBCEB04-0457-A264-E82B-C3C5623D620E}"/>
                </a:ext>
              </a:extLst>
            </p:cNvPr>
            <p:cNvSpPr/>
            <p:nvPr/>
          </p:nvSpPr>
          <p:spPr>
            <a:xfrm>
              <a:off x="4056967" y="2881750"/>
              <a:ext cx="73392" cy="24464"/>
            </a:xfrm>
            <a:custGeom>
              <a:avLst/>
              <a:gdLst/>
              <a:ahLst/>
              <a:cxnLst/>
              <a:rect l="l" t="t" r="r" b="b"/>
              <a:pathLst>
                <a:path w="1893" h="631" extrusionOk="0">
                  <a:moveTo>
                    <a:pt x="315" y="1"/>
                  </a:moveTo>
                  <a:cubicBezTo>
                    <a:pt x="141" y="1"/>
                    <a:pt x="1" y="141"/>
                    <a:pt x="1" y="315"/>
                  </a:cubicBezTo>
                  <a:cubicBezTo>
                    <a:pt x="1" y="489"/>
                    <a:pt x="141" y="630"/>
                    <a:pt x="315" y="630"/>
                  </a:cubicBezTo>
                  <a:lnTo>
                    <a:pt x="1577" y="630"/>
                  </a:lnTo>
                  <a:cubicBezTo>
                    <a:pt x="1752" y="630"/>
                    <a:pt x="1892" y="489"/>
                    <a:pt x="1892" y="315"/>
                  </a:cubicBezTo>
                  <a:cubicBezTo>
                    <a:pt x="1892" y="141"/>
                    <a:pt x="1752" y="1"/>
                    <a:pt x="1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11;p62">
              <a:extLst>
                <a:ext uri="{FF2B5EF4-FFF2-40B4-BE49-F238E27FC236}">
                  <a16:creationId xmlns:a16="http://schemas.microsoft.com/office/drawing/2014/main" id="{54DC68EB-62B3-F844-59DC-2D94C5C5DD26}"/>
                </a:ext>
              </a:extLst>
            </p:cNvPr>
            <p:cNvSpPr/>
            <p:nvPr/>
          </p:nvSpPr>
          <p:spPr>
            <a:xfrm>
              <a:off x="4056967" y="2930445"/>
              <a:ext cx="73392" cy="24464"/>
            </a:xfrm>
            <a:custGeom>
              <a:avLst/>
              <a:gdLst/>
              <a:ahLst/>
              <a:cxnLst/>
              <a:rect l="l" t="t" r="r" b="b"/>
              <a:pathLst>
                <a:path w="1893" h="631" extrusionOk="0">
                  <a:moveTo>
                    <a:pt x="315" y="1"/>
                  </a:moveTo>
                  <a:cubicBezTo>
                    <a:pt x="141" y="1"/>
                    <a:pt x="1" y="141"/>
                    <a:pt x="1" y="315"/>
                  </a:cubicBezTo>
                  <a:cubicBezTo>
                    <a:pt x="1" y="490"/>
                    <a:pt x="141" y="630"/>
                    <a:pt x="315" y="630"/>
                  </a:cubicBezTo>
                  <a:lnTo>
                    <a:pt x="1577" y="630"/>
                  </a:lnTo>
                  <a:cubicBezTo>
                    <a:pt x="1752" y="630"/>
                    <a:pt x="1892" y="490"/>
                    <a:pt x="1892" y="315"/>
                  </a:cubicBezTo>
                  <a:cubicBezTo>
                    <a:pt x="1892" y="143"/>
                    <a:pt x="1752" y="1"/>
                    <a:pt x="1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12;p62">
              <a:extLst>
                <a:ext uri="{FF2B5EF4-FFF2-40B4-BE49-F238E27FC236}">
                  <a16:creationId xmlns:a16="http://schemas.microsoft.com/office/drawing/2014/main" id="{D1533E68-0106-2EA7-94DF-6A60A9AE0CDE}"/>
                </a:ext>
              </a:extLst>
            </p:cNvPr>
            <p:cNvSpPr/>
            <p:nvPr/>
          </p:nvSpPr>
          <p:spPr>
            <a:xfrm>
              <a:off x="4008194" y="2832978"/>
              <a:ext cx="24464" cy="24464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315" y="1"/>
                  </a:moveTo>
                  <a:cubicBezTo>
                    <a:pt x="141" y="1"/>
                    <a:pt x="1" y="141"/>
                    <a:pt x="1" y="315"/>
                  </a:cubicBezTo>
                  <a:cubicBezTo>
                    <a:pt x="1" y="489"/>
                    <a:pt x="141" y="630"/>
                    <a:pt x="315" y="630"/>
                  </a:cubicBezTo>
                  <a:cubicBezTo>
                    <a:pt x="489" y="630"/>
                    <a:pt x="630" y="489"/>
                    <a:pt x="630" y="315"/>
                  </a:cubicBezTo>
                  <a:cubicBezTo>
                    <a:pt x="630" y="141"/>
                    <a:pt x="489" y="1"/>
                    <a:pt x="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13;p62">
              <a:extLst>
                <a:ext uri="{FF2B5EF4-FFF2-40B4-BE49-F238E27FC236}">
                  <a16:creationId xmlns:a16="http://schemas.microsoft.com/office/drawing/2014/main" id="{699775D5-468C-7CDC-ED3E-BC09CAC15A62}"/>
                </a:ext>
              </a:extLst>
            </p:cNvPr>
            <p:cNvSpPr/>
            <p:nvPr/>
          </p:nvSpPr>
          <p:spPr>
            <a:xfrm>
              <a:off x="4008194" y="2881712"/>
              <a:ext cx="24464" cy="24464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315" y="1"/>
                  </a:moveTo>
                  <a:cubicBezTo>
                    <a:pt x="141" y="1"/>
                    <a:pt x="1" y="142"/>
                    <a:pt x="1" y="315"/>
                  </a:cubicBezTo>
                  <a:cubicBezTo>
                    <a:pt x="1" y="490"/>
                    <a:pt x="141" y="630"/>
                    <a:pt x="315" y="630"/>
                  </a:cubicBezTo>
                  <a:cubicBezTo>
                    <a:pt x="489" y="630"/>
                    <a:pt x="630" y="490"/>
                    <a:pt x="630" y="315"/>
                  </a:cubicBezTo>
                  <a:cubicBezTo>
                    <a:pt x="630" y="142"/>
                    <a:pt x="489" y="1"/>
                    <a:pt x="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14;p62">
              <a:extLst>
                <a:ext uri="{FF2B5EF4-FFF2-40B4-BE49-F238E27FC236}">
                  <a16:creationId xmlns:a16="http://schemas.microsoft.com/office/drawing/2014/main" id="{6AB8083B-AAD6-6F92-6368-81EB02DB73F3}"/>
                </a:ext>
              </a:extLst>
            </p:cNvPr>
            <p:cNvSpPr/>
            <p:nvPr/>
          </p:nvSpPr>
          <p:spPr>
            <a:xfrm>
              <a:off x="4008194" y="2930445"/>
              <a:ext cx="24464" cy="24464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315" y="1"/>
                  </a:moveTo>
                  <a:cubicBezTo>
                    <a:pt x="141" y="1"/>
                    <a:pt x="1" y="142"/>
                    <a:pt x="1" y="315"/>
                  </a:cubicBezTo>
                  <a:cubicBezTo>
                    <a:pt x="1" y="489"/>
                    <a:pt x="141" y="630"/>
                    <a:pt x="315" y="630"/>
                  </a:cubicBezTo>
                  <a:cubicBezTo>
                    <a:pt x="489" y="630"/>
                    <a:pt x="630" y="489"/>
                    <a:pt x="630" y="315"/>
                  </a:cubicBezTo>
                  <a:cubicBezTo>
                    <a:pt x="630" y="142"/>
                    <a:pt x="489" y="1"/>
                    <a:pt x="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184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86837901-A55A-8045-A159-DE0B5AC2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>
            <a:extLst>
              <a:ext uri="{FF2B5EF4-FFF2-40B4-BE49-F238E27FC236}">
                <a16:creationId xmlns:a16="http://schemas.microsoft.com/office/drawing/2014/main" id="{2028F4D6-3A75-3592-B54D-C51128FA5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8019" y="242522"/>
            <a:ext cx="8549171" cy="67134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Areas of Deployment</a:t>
            </a:r>
            <a:endParaRPr dirty="0"/>
          </a:p>
        </p:txBody>
      </p:sp>
      <p:sp>
        <p:nvSpPr>
          <p:cNvPr id="17" name="Google Shape;581;p56">
            <a:extLst>
              <a:ext uri="{FF2B5EF4-FFF2-40B4-BE49-F238E27FC236}">
                <a16:creationId xmlns:a16="http://schemas.microsoft.com/office/drawing/2014/main" id="{7D0C8E07-79DC-613B-FA10-603EBE15C35F}"/>
              </a:ext>
            </a:extLst>
          </p:cNvPr>
          <p:cNvSpPr txBox="1"/>
          <p:nvPr/>
        </p:nvSpPr>
        <p:spPr>
          <a:xfrm flipH="1">
            <a:off x="5887500" y="374643"/>
            <a:ext cx="2143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8B0000"/>
                </a:solidFill>
                <a:latin typeface="Alexandria"/>
                <a:ea typeface="Alexandria"/>
                <a:cs typeface="Alexandria"/>
                <a:sym typeface="Alexandria"/>
              </a:rPr>
              <a:t>Tier 1: 26.03 M</a:t>
            </a:r>
            <a:endParaRPr sz="2000" b="1" dirty="0">
              <a:solidFill>
                <a:srgbClr val="8B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" name="Google Shape;582;p56">
            <a:extLst>
              <a:ext uri="{FF2B5EF4-FFF2-40B4-BE49-F238E27FC236}">
                <a16:creationId xmlns:a16="http://schemas.microsoft.com/office/drawing/2014/main" id="{8C3C71A1-B496-571E-98ED-7D33DD1D1AE9}"/>
              </a:ext>
            </a:extLst>
          </p:cNvPr>
          <p:cNvSpPr txBox="1"/>
          <p:nvPr/>
        </p:nvSpPr>
        <p:spPr>
          <a:xfrm flipH="1">
            <a:off x="5887486" y="2281693"/>
            <a:ext cx="2143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A500"/>
                </a:solidFill>
                <a:latin typeface="Alexandria"/>
                <a:ea typeface="Alexandria"/>
                <a:cs typeface="Alexandria"/>
                <a:sym typeface="Alexandria"/>
              </a:rPr>
              <a:t>Tier 3: 1.23M</a:t>
            </a:r>
            <a:endParaRPr sz="2000" b="1" dirty="0">
              <a:solidFill>
                <a:srgbClr val="FFA5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" name="Google Shape;583;p56">
            <a:extLst>
              <a:ext uri="{FF2B5EF4-FFF2-40B4-BE49-F238E27FC236}">
                <a16:creationId xmlns:a16="http://schemas.microsoft.com/office/drawing/2014/main" id="{AC36C58B-F537-1464-0477-D20CF0BA8649}"/>
              </a:ext>
            </a:extLst>
          </p:cNvPr>
          <p:cNvSpPr txBox="1"/>
          <p:nvPr/>
        </p:nvSpPr>
        <p:spPr>
          <a:xfrm flipH="1">
            <a:off x="5887511" y="1342994"/>
            <a:ext cx="2143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4500"/>
                </a:solidFill>
                <a:latin typeface="Alexandria"/>
                <a:ea typeface="Alexandria"/>
                <a:cs typeface="Alexandria"/>
                <a:sym typeface="Alexandria"/>
              </a:rPr>
              <a:t>Tier 2: 13.2 M </a:t>
            </a:r>
            <a:endParaRPr sz="2000" b="1" dirty="0">
              <a:solidFill>
                <a:srgbClr val="FF45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" name="Google Shape;585;p56">
            <a:extLst>
              <a:ext uri="{FF2B5EF4-FFF2-40B4-BE49-F238E27FC236}">
                <a16:creationId xmlns:a16="http://schemas.microsoft.com/office/drawing/2014/main" id="{2005E6E2-CC27-B8F9-2D21-FB47ACAFDF74}"/>
              </a:ext>
            </a:extLst>
          </p:cNvPr>
          <p:cNvSpPr txBox="1"/>
          <p:nvPr/>
        </p:nvSpPr>
        <p:spPr>
          <a:xfrm flipH="1">
            <a:off x="5829034" y="661298"/>
            <a:ext cx="331496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182 counties</a:t>
            </a:r>
          </a:p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Most urgent intervention needed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586;p56">
            <a:extLst>
              <a:ext uri="{FF2B5EF4-FFF2-40B4-BE49-F238E27FC236}">
                <a16:creationId xmlns:a16="http://schemas.microsoft.com/office/drawing/2014/main" id="{B9A688F3-CAAB-AC03-7B7C-AE01273BE4C0}"/>
              </a:ext>
            </a:extLst>
          </p:cNvPr>
          <p:cNvSpPr txBox="1"/>
          <p:nvPr/>
        </p:nvSpPr>
        <p:spPr>
          <a:xfrm flipH="1">
            <a:off x="5829018" y="2573664"/>
            <a:ext cx="3264401" cy="87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128 counties</a:t>
            </a:r>
          </a:p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low-access prevalence prioritized (rural)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Google Shape;587;p56">
            <a:extLst>
              <a:ext uri="{FF2B5EF4-FFF2-40B4-BE49-F238E27FC236}">
                <a16:creationId xmlns:a16="http://schemas.microsoft.com/office/drawing/2014/main" id="{579FDB67-8150-F26A-2A92-36403424C539}"/>
              </a:ext>
            </a:extLst>
          </p:cNvPr>
          <p:cNvSpPr txBox="1"/>
          <p:nvPr/>
        </p:nvSpPr>
        <p:spPr>
          <a:xfrm flipH="1">
            <a:off x="5829034" y="1629649"/>
            <a:ext cx="331496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128 counties</a:t>
            </a:r>
          </a:p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Large populations prioritized (urban)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" name="Google Shape;646;p56">
            <a:extLst>
              <a:ext uri="{FF2B5EF4-FFF2-40B4-BE49-F238E27FC236}">
                <a16:creationId xmlns:a16="http://schemas.microsoft.com/office/drawing/2014/main" id="{21171BF5-70FB-16C7-6239-C0FE685296F8}"/>
              </a:ext>
            </a:extLst>
          </p:cNvPr>
          <p:cNvCxnSpPr>
            <a:cxnSpLocks/>
          </p:cNvCxnSpPr>
          <p:nvPr/>
        </p:nvCxnSpPr>
        <p:spPr>
          <a:xfrm>
            <a:off x="5887486" y="719153"/>
            <a:ext cx="29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647;p56">
            <a:extLst>
              <a:ext uri="{FF2B5EF4-FFF2-40B4-BE49-F238E27FC236}">
                <a16:creationId xmlns:a16="http://schemas.microsoft.com/office/drawing/2014/main" id="{628E0281-F95A-739B-AC19-5EA8E1401537}"/>
              </a:ext>
            </a:extLst>
          </p:cNvPr>
          <p:cNvCxnSpPr>
            <a:cxnSpLocks/>
          </p:cNvCxnSpPr>
          <p:nvPr/>
        </p:nvCxnSpPr>
        <p:spPr>
          <a:xfrm>
            <a:off x="5887500" y="1675490"/>
            <a:ext cx="29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648;p56">
            <a:extLst>
              <a:ext uri="{FF2B5EF4-FFF2-40B4-BE49-F238E27FC236}">
                <a16:creationId xmlns:a16="http://schemas.microsoft.com/office/drawing/2014/main" id="{1FA61888-2340-F8D1-3736-A6C81799871E}"/>
              </a:ext>
            </a:extLst>
          </p:cNvPr>
          <p:cNvCxnSpPr>
            <a:cxnSpLocks/>
          </p:cNvCxnSpPr>
          <p:nvPr/>
        </p:nvCxnSpPr>
        <p:spPr>
          <a:xfrm>
            <a:off x="5887486" y="2620897"/>
            <a:ext cx="29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583;p56">
            <a:extLst>
              <a:ext uri="{FF2B5EF4-FFF2-40B4-BE49-F238E27FC236}">
                <a16:creationId xmlns:a16="http://schemas.microsoft.com/office/drawing/2014/main" id="{F8AB2AA0-B111-292A-1EC9-F2442C2DD6DE}"/>
              </a:ext>
            </a:extLst>
          </p:cNvPr>
          <p:cNvSpPr txBox="1"/>
          <p:nvPr/>
        </p:nvSpPr>
        <p:spPr>
          <a:xfrm flipH="1">
            <a:off x="5840190" y="3438280"/>
            <a:ext cx="2143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E6C000"/>
                </a:solidFill>
                <a:latin typeface="Alexandria"/>
                <a:ea typeface="Alexandria"/>
                <a:cs typeface="Alexandria"/>
                <a:sym typeface="Alexandria"/>
              </a:rPr>
              <a:t>Tier 4: 7.78 M </a:t>
            </a:r>
            <a:endParaRPr sz="2000" b="1" dirty="0">
              <a:solidFill>
                <a:srgbClr val="E6C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" name="Google Shape;587;p56">
            <a:extLst>
              <a:ext uri="{FF2B5EF4-FFF2-40B4-BE49-F238E27FC236}">
                <a16:creationId xmlns:a16="http://schemas.microsoft.com/office/drawing/2014/main" id="{38EBF693-DBA5-2EA2-F710-D141DD8C7EA2}"/>
              </a:ext>
            </a:extLst>
          </p:cNvPr>
          <p:cNvSpPr txBox="1"/>
          <p:nvPr/>
        </p:nvSpPr>
        <p:spPr>
          <a:xfrm flipH="1">
            <a:off x="5781713" y="3730250"/>
            <a:ext cx="331496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330 counties</a:t>
            </a:r>
          </a:p>
          <a:p>
            <a:pPr marL="28575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Populations to monitor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" name="Google Shape;647;p56">
            <a:extLst>
              <a:ext uri="{FF2B5EF4-FFF2-40B4-BE49-F238E27FC236}">
                <a16:creationId xmlns:a16="http://schemas.microsoft.com/office/drawing/2014/main" id="{8256BCAA-4EE7-7C88-7C00-D03916252FC0}"/>
              </a:ext>
            </a:extLst>
          </p:cNvPr>
          <p:cNvCxnSpPr>
            <a:cxnSpLocks/>
          </p:cNvCxnSpPr>
          <p:nvPr/>
        </p:nvCxnSpPr>
        <p:spPr>
          <a:xfrm>
            <a:off x="5829019" y="3772158"/>
            <a:ext cx="29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8D3993-899B-4FEF-23D1-0A06DAAFE4DF}"/>
              </a:ext>
            </a:extLst>
          </p:cNvPr>
          <p:cNvSpPr txBox="1"/>
          <p:nvPr/>
        </p:nvSpPr>
        <p:spPr>
          <a:xfrm>
            <a:off x="266585" y="4310031"/>
            <a:ext cx="2965877" cy="284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Ranked using Priority Score (high to low):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C04E1C-F65F-6E24-F25C-596F49D19E0F}"/>
                  </a:ext>
                </a:extLst>
              </p:cNvPr>
              <p:cNvSpPr txBox="1"/>
              <p:nvPr/>
            </p:nvSpPr>
            <p:spPr>
              <a:xfrm>
                <a:off x="420549" y="4557190"/>
                <a:ext cx="2487091" cy="322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𝑃𝑟𝑖𝑜𝑟𝑖𝑡𝑦</m:t>
                      </m:r>
                      <m:r>
                        <a:rPr lang="en-US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C04E1C-F65F-6E24-F25C-596F49D1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49" y="4557190"/>
                <a:ext cx="2487091" cy="322268"/>
              </a:xfrm>
              <a:prstGeom prst="rect">
                <a:avLst/>
              </a:prstGeom>
              <a:blipFill>
                <a:blip r:embed="rId3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7FCFBED-382C-A459-C821-A4A3E1D109AF}"/>
              </a:ext>
            </a:extLst>
          </p:cNvPr>
          <p:cNvSpPr txBox="1"/>
          <p:nvPr/>
        </p:nvSpPr>
        <p:spPr>
          <a:xfrm>
            <a:off x="3386426" y="4333353"/>
            <a:ext cx="55874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-US" sz="1000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Proportion of population with low access relative to highest low-access population</a:t>
            </a:r>
          </a:p>
          <a:p>
            <a:r>
              <a:rPr lang="en-US" sz="1000" b="1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</a:t>
            </a:r>
            <a:r>
              <a:rPr lang="en-US" sz="1000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Need index calculated from percentage of vulnerable groups with low access</a:t>
            </a:r>
          </a:p>
          <a:p>
            <a:r>
              <a:rPr lang="el-GR" sz="1000" b="1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α</a:t>
            </a:r>
            <a:r>
              <a:rPr lang="en-US" sz="1000" dirty="0">
                <a:solidFill>
                  <a:srgbClr val="5F5F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tunable parameter to prioritize either population or percentages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CA7EEF-F97F-369F-5BC7-BBA1C255DE7B}"/>
              </a:ext>
            </a:extLst>
          </p:cNvPr>
          <p:cNvGrpSpPr/>
          <p:nvPr/>
        </p:nvGrpSpPr>
        <p:grpSpPr>
          <a:xfrm>
            <a:off x="271240" y="835529"/>
            <a:ext cx="5360547" cy="3341813"/>
            <a:chOff x="216810" y="824643"/>
            <a:chExt cx="5360547" cy="33418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96509C-4838-DC5E-6E97-C14CF8F92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616" t="369" r="23924" b="1"/>
            <a:stretch>
              <a:fillRect/>
            </a:stretch>
          </p:blipFill>
          <p:spPr>
            <a:xfrm>
              <a:off x="216810" y="824643"/>
              <a:ext cx="5360547" cy="334181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D80A86F-275B-3DC1-4E7F-62DC1D8BA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02" r="79416" b="93054"/>
            <a:stretch>
              <a:fillRect/>
            </a:stretch>
          </p:blipFill>
          <p:spPr>
            <a:xfrm>
              <a:off x="216810" y="832626"/>
              <a:ext cx="1611746" cy="20604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B4C8D2D-3282-268F-B4CE-98E94E93A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4204" t="6946" b="58996"/>
            <a:stretch>
              <a:fillRect/>
            </a:stretch>
          </p:blipFill>
          <p:spPr>
            <a:xfrm>
              <a:off x="216810" y="1104301"/>
              <a:ext cx="453839" cy="1142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957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65FC-FD0C-E523-760B-A055B681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6F6E6B83-A2B2-488E-8E50-8E706F974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97" y="993713"/>
            <a:ext cx="4508342" cy="33041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74591B8-E2F6-459F-9194-60EAD1FCA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7" y="2645766"/>
            <a:ext cx="3927330" cy="2166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B36DC0-7214-1088-4A7E-DCE773F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30" y="274905"/>
            <a:ext cx="7704000" cy="687342"/>
          </a:xfrm>
        </p:spPr>
        <p:txBody>
          <a:bodyPr/>
          <a:lstStyle/>
          <a:p>
            <a:r>
              <a:rPr lang="en-US" dirty="0"/>
              <a:t>Demographic Breakdown by Tier</a:t>
            </a:r>
          </a:p>
        </p:txBody>
      </p:sp>
      <p:sp>
        <p:nvSpPr>
          <p:cNvPr id="26" name="Google Shape;570;p55">
            <a:extLst>
              <a:ext uri="{FF2B5EF4-FFF2-40B4-BE49-F238E27FC236}">
                <a16:creationId xmlns:a16="http://schemas.microsoft.com/office/drawing/2014/main" id="{87B5B353-9D12-095E-D97E-63630752AC8E}"/>
              </a:ext>
            </a:extLst>
          </p:cNvPr>
          <p:cNvSpPr/>
          <p:nvPr/>
        </p:nvSpPr>
        <p:spPr>
          <a:xfrm>
            <a:off x="271130" y="849606"/>
            <a:ext cx="4155374" cy="171092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571;p55">
            <a:extLst>
              <a:ext uri="{FF2B5EF4-FFF2-40B4-BE49-F238E27FC236}">
                <a16:creationId xmlns:a16="http://schemas.microsoft.com/office/drawing/2014/main" id="{CF3656B1-255B-318D-695C-B1E39C052E6E}"/>
              </a:ext>
            </a:extLst>
          </p:cNvPr>
          <p:cNvSpPr txBox="1"/>
          <p:nvPr/>
        </p:nvSpPr>
        <p:spPr>
          <a:xfrm>
            <a:off x="403054" y="829201"/>
            <a:ext cx="223324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Key Notes</a:t>
            </a:r>
            <a:endParaRPr sz="2000" b="1" dirty="0">
              <a:solidFill>
                <a:schemeClr val="lt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" name="Google Shape;572;p55">
            <a:extLst>
              <a:ext uri="{FF2B5EF4-FFF2-40B4-BE49-F238E27FC236}">
                <a16:creationId xmlns:a16="http://schemas.microsoft.com/office/drawing/2014/main" id="{A7392992-4490-3272-377C-95587C76CF26}"/>
              </a:ext>
            </a:extLst>
          </p:cNvPr>
          <p:cNvSpPr txBox="1"/>
          <p:nvPr/>
        </p:nvSpPr>
        <p:spPr>
          <a:xfrm>
            <a:off x="402566" y="1330321"/>
            <a:ext cx="3940833" cy="116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Largest population groups supported are low-income individuals, children, and seniors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Tier 3 has a comparatively higher proportion of American Indian/Alaska Natives</a:t>
            </a:r>
          </a:p>
        </p:txBody>
      </p:sp>
    </p:spTree>
    <p:extLst>
      <p:ext uri="{BB962C8B-B14F-4D97-AF65-F5344CB8AC3E}">
        <p14:creationId xmlns:p14="http://schemas.microsoft.com/office/powerpoint/2010/main" val="397902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97B98967-CD6C-398A-D55E-F60B8131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>
            <a:extLst>
              <a:ext uri="{FF2B5EF4-FFF2-40B4-BE49-F238E27FC236}">
                <a16:creationId xmlns:a16="http://schemas.microsoft.com/office/drawing/2014/main" id="{0B39FC1F-50F4-58FC-48F3-A4088F7BC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825" y="3017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Effects of the Program</a:t>
            </a:r>
            <a:endParaRPr dirty="0"/>
          </a:p>
        </p:txBody>
      </p:sp>
      <p:sp>
        <p:nvSpPr>
          <p:cNvPr id="506" name="Google Shape;506;p52">
            <a:extLst>
              <a:ext uri="{FF2B5EF4-FFF2-40B4-BE49-F238E27FC236}">
                <a16:creationId xmlns:a16="http://schemas.microsoft.com/office/drawing/2014/main" id="{2F719408-1A63-8D87-C746-2F0519AD5214}"/>
              </a:ext>
            </a:extLst>
          </p:cNvPr>
          <p:cNvSpPr txBox="1"/>
          <p:nvPr/>
        </p:nvSpPr>
        <p:spPr>
          <a:xfrm>
            <a:off x="215400" y="4061337"/>
            <a:ext cx="19125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More households becoming food secure with increased access. 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p52">
            <a:extLst>
              <a:ext uri="{FF2B5EF4-FFF2-40B4-BE49-F238E27FC236}">
                <a16:creationId xmlns:a16="http://schemas.microsoft.com/office/drawing/2014/main" id="{9D3D18C7-981A-617F-5250-AD4324A3FE4D}"/>
              </a:ext>
            </a:extLst>
          </p:cNvPr>
          <p:cNvSpPr txBox="1"/>
          <p:nvPr/>
        </p:nvSpPr>
        <p:spPr>
          <a:xfrm>
            <a:off x="4452664" y="4051627"/>
            <a:ext cx="1988554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Healthier diets may lower risk of chronic diseases (e.g. diabetes and obesity).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8" name="Google Shape;508;p52">
            <a:extLst>
              <a:ext uri="{FF2B5EF4-FFF2-40B4-BE49-F238E27FC236}">
                <a16:creationId xmlns:a16="http://schemas.microsoft.com/office/drawing/2014/main" id="{30DAADA7-80CF-0F20-E9AD-1F427978800F}"/>
              </a:ext>
            </a:extLst>
          </p:cNvPr>
          <p:cNvSpPr txBox="1"/>
          <p:nvPr/>
        </p:nvSpPr>
        <p:spPr>
          <a:xfrm>
            <a:off x="2143364" y="4061337"/>
            <a:ext cx="2158877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Increased fruits and vegetables consumption with availability of fresh food.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" name="Google Shape;509;p52">
            <a:extLst>
              <a:ext uri="{FF2B5EF4-FFF2-40B4-BE49-F238E27FC236}">
                <a16:creationId xmlns:a16="http://schemas.microsoft.com/office/drawing/2014/main" id="{EEF13022-9969-BED9-F6DC-1DE3CF68E616}"/>
              </a:ext>
            </a:extLst>
          </p:cNvPr>
          <p:cNvSpPr txBox="1"/>
          <p:nvPr/>
        </p:nvSpPr>
        <p:spPr>
          <a:xfrm>
            <a:off x="6652946" y="4046038"/>
            <a:ext cx="2267772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Reduced food budget strain, potentially contributes to long-term poverty relief efforts. 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52">
            <a:extLst>
              <a:ext uri="{FF2B5EF4-FFF2-40B4-BE49-F238E27FC236}">
                <a16:creationId xmlns:a16="http://schemas.microsoft.com/office/drawing/2014/main" id="{AE9BB126-7D5E-2E74-77F5-7983FDAAA6BE}"/>
              </a:ext>
            </a:extLst>
          </p:cNvPr>
          <p:cNvSpPr txBox="1"/>
          <p:nvPr/>
        </p:nvSpPr>
        <p:spPr>
          <a:xfrm>
            <a:off x="2430682" y="1742468"/>
            <a:ext cx="402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Projected Impacts </a:t>
            </a:r>
            <a:endParaRPr sz="2000" b="1" dirty="0">
              <a:solidFill>
                <a:schemeClr val="lt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19" name="Google Shape;519;p52">
            <a:extLst>
              <a:ext uri="{FF2B5EF4-FFF2-40B4-BE49-F238E27FC236}">
                <a16:creationId xmlns:a16="http://schemas.microsoft.com/office/drawing/2014/main" id="{3F95A8E5-AA76-CC62-7FF5-677CE4C0D71D}"/>
              </a:ext>
            </a:extLst>
          </p:cNvPr>
          <p:cNvSpPr txBox="1"/>
          <p:nvPr/>
        </p:nvSpPr>
        <p:spPr>
          <a:xfrm>
            <a:off x="2319645" y="3295363"/>
            <a:ext cx="1911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Healthier Diets</a:t>
            </a:r>
            <a:endParaRPr sz="2000" b="1" dirty="0">
              <a:solidFill>
                <a:schemeClr val="lt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20" name="Google Shape;520;p52">
            <a:extLst>
              <a:ext uri="{FF2B5EF4-FFF2-40B4-BE49-F238E27FC236}">
                <a16:creationId xmlns:a16="http://schemas.microsoft.com/office/drawing/2014/main" id="{F5EEA142-C4F5-6ED0-EA28-0FCE4F8F9024}"/>
              </a:ext>
            </a:extLst>
          </p:cNvPr>
          <p:cNvSpPr txBox="1"/>
          <p:nvPr/>
        </p:nvSpPr>
        <p:spPr>
          <a:xfrm>
            <a:off x="136932" y="3307204"/>
            <a:ext cx="2057101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Reduced Food Insecurity</a:t>
            </a:r>
          </a:p>
        </p:txBody>
      </p:sp>
      <p:sp>
        <p:nvSpPr>
          <p:cNvPr id="521" name="Google Shape;521;p52">
            <a:extLst>
              <a:ext uri="{FF2B5EF4-FFF2-40B4-BE49-F238E27FC236}">
                <a16:creationId xmlns:a16="http://schemas.microsoft.com/office/drawing/2014/main" id="{F25B972C-020E-FBE3-4142-566055B52B02}"/>
              </a:ext>
            </a:extLst>
          </p:cNvPr>
          <p:cNvSpPr txBox="1"/>
          <p:nvPr/>
        </p:nvSpPr>
        <p:spPr>
          <a:xfrm>
            <a:off x="4295602" y="3297494"/>
            <a:ext cx="2425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Improved Health Outcomes</a:t>
            </a:r>
            <a:endParaRPr sz="2000" b="1" dirty="0">
              <a:solidFill>
                <a:schemeClr val="lt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22" name="Google Shape;522;p52">
            <a:extLst>
              <a:ext uri="{FF2B5EF4-FFF2-40B4-BE49-F238E27FC236}">
                <a16:creationId xmlns:a16="http://schemas.microsoft.com/office/drawing/2014/main" id="{F1771ADF-D76B-AA56-D2F8-EC45ABA3ACEC}"/>
              </a:ext>
            </a:extLst>
          </p:cNvPr>
          <p:cNvSpPr txBox="1"/>
          <p:nvPr/>
        </p:nvSpPr>
        <p:spPr>
          <a:xfrm>
            <a:off x="6865420" y="3285251"/>
            <a:ext cx="1911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2"/>
                </a:solidFill>
                <a:latin typeface="Alexandria"/>
                <a:ea typeface="Alexandria"/>
                <a:cs typeface="Alexandria"/>
                <a:sym typeface="Alexandria"/>
              </a:rPr>
              <a:t>Economic Stability</a:t>
            </a:r>
            <a:endParaRPr sz="2000" b="1" dirty="0">
              <a:solidFill>
                <a:schemeClr val="lt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23" name="Google Shape;523;p52">
            <a:extLst>
              <a:ext uri="{FF2B5EF4-FFF2-40B4-BE49-F238E27FC236}">
                <a16:creationId xmlns:a16="http://schemas.microsoft.com/office/drawing/2014/main" id="{1A5FF5B2-4FD9-F691-350C-A1886750BFAB}"/>
              </a:ext>
            </a:extLst>
          </p:cNvPr>
          <p:cNvSpPr/>
          <p:nvPr/>
        </p:nvSpPr>
        <p:spPr>
          <a:xfrm>
            <a:off x="915034" y="2691257"/>
            <a:ext cx="478200" cy="478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2">
            <a:extLst>
              <a:ext uri="{FF2B5EF4-FFF2-40B4-BE49-F238E27FC236}">
                <a16:creationId xmlns:a16="http://schemas.microsoft.com/office/drawing/2014/main" id="{BE0BA831-46DE-DFD7-80F8-2DCA7551CCA4}"/>
              </a:ext>
            </a:extLst>
          </p:cNvPr>
          <p:cNvSpPr/>
          <p:nvPr/>
        </p:nvSpPr>
        <p:spPr>
          <a:xfrm>
            <a:off x="2973476" y="2691203"/>
            <a:ext cx="478200" cy="478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2">
            <a:extLst>
              <a:ext uri="{FF2B5EF4-FFF2-40B4-BE49-F238E27FC236}">
                <a16:creationId xmlns:a16="http://schemas.microsoft.com/office/drawing/2014/main" id="{10F0A2A2-7C51-DBBB-7BC2-4F1D11911F53}"/>
              </a:ext>
            </a:extLst>
          </p:cNvPr>
          <p:cNvSpPr/>
          <p:nvPr/>
        </p:nvSpPr>
        <p:spPr>
          <a:xfrm>
            <a:off x="5189465" y="2692699"/>
            <a:ext cx="478200" cy="478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2">
            <a:extLst>
              <a:ext uri="{FF2B5EF4-FFF2-40B4-BE49-F238E27FC236}">
                <a16:creationId xmlns:a16="http://schemas.microsoft.com/office/drawing/2014/main" id="{902862F4-A00A-6053-0DD1-945072408721}"/>
              </a:ext>
            </a:extLst>
          </p:cNvPr>
          <p:cNvSpPr/>
          <p:nvPr/>
        </p:nvSpPr>
        <p:spPr>
          <a:xfrm>
            <a:off x="7574602" y="2688791"/>
            <a:ext cx="478200" cy="478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7" name="Google Shape;527;p52">
            <a:extLst>
              <a:ext uri="{FF2B5EF4-FFF2-40B4-BE49-F238E27FC236}">
                <a16:creationId xmlns:a16="http://schemas.microsoft.com/office/drawing/2014/main" id="{A484EE89-FFB5-E0E6-4659-AC7E329CE5ED}"/>
              </a:ext>
            </a:extLst>
          </p:cNvPr>
          <p:cNvCxnSpPr>
            <a:cxnSpLocks/>
            <a:endCxn id="523" idx="0"/>
          </p:cNvCxnSpPr>
          <p:nvPr/>
        </p:nvCxnSpPr>
        <p:spPr>
          <a:xfrm rot="5400000">
            <a:off x="2557605" y="796197"/>
            <a:ext cx="491589" cy="329853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52">
            <a:extLst>
              <a:ext uri="{FF2B5EF4-FFF2-40B4-BE49-F238E27FC236}">
                <a16:creationId xmlns:a16="http://schemas.microsoft.com/office/drawing/2014/main" id="{3A6E8B4D-7041-F887-EF84-89638E32E438}"/>
              </a:ext>
            </a:extLst>
          </p:cNvPr>
          <p:cNvCxnSpPr>
            <a:cxnSpLocks/>
            <a:endCxn id="524" idx="0"/>
          </p:cNvCxnSpPr>
          <p:nvPr/>
        </p:nvCxnSpPr>
        <p:spPr>
          <a:xfrm rot="5400000">
            <a:off x="3586853" y="1825391"/>
            <a:ext cx="491535" cy="124008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52">
            <a:extLst>
              <a:ext uri="{FF2B5EF4-FFF2-40B4-BE49-F238E27FC236}">
                <a16:creationId xmlns:a16="http://schemas.microsoft.com/office/drawing/2014/main" id="{C4A1D7FD-A337-DBCD-2FD2-35D315E2876E}"/>
              </a:ext>
            </a:extLst>
          </p:cNvPr>
          <p:cNvCxnSpPr>
            <a:cxnSpLocks/>
            <a:endCxn id="525" idx="0"/>
          </p:cNvCxnSpPr>
          <p:nvPr/>
        </p:nvCxnSpPr>
        <p:spPr>
          <a:xfrm rot="16200000" flipH="1">
            <a:off x="4694099" y="1958232"/>
            <a:ext cx="493031" cy="97590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52">
            <a:extLst>
              <a:ext uri="{FF2B5EF4-FFF2-40B4-BE49-F238E27FC236}">
                <a16:creationId xmlns:a16="http://schemas.microsoft.com/office/drawing/2014/main" id="{AA0DDD32-377D-8533-149F-F243CFF39877}"/>
              </a:ext>
            </a:extLst>
          </p:cNvPr>
          <p:cNvCxnSpPr>
            <a:cxnSpLocks/>
            <a:endCxn id="526" idx="0"/>
          </p:cNvCxnSpPr>
          <p:nvPr/>
        </p:nvCxnSpPr>
        <p:spPr>
          <a:xfrm rot="16200000" flipH="1">
            <a:off x="5888622" y="763710"/>
            <a:ext cx="489123" cy="336103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52">
            <a:extLst>
              <a:ext uri="{FF2B5EF4-FFF2-40B4-BE49-F238E27FC236}">
                <a16:creationId xmlns:a16="http://schemas.microsoft.com/office/drawing/2014/main" id="{FB411F37-1301-3A30-4E13-B436A2010631}"/>
              </a:ext>
            </a:extLst>
          </p:cNvPr>
          <p:cNvCxnSpPr/>
          <p:nvPr/>
        </p:nvCxnSpPr>
        <p:spPr>
          <a:xfrm>
            <a:off x="7038370" y="4046038"/>
            <a:ext cx="1565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52">
            <a:extLst>
              <a:ext uri="{FF2B5EF4-FFF2-40B4-BE49-F238E27FC236}">
                <a16:creationId xmlns:a16="http://schemas.microsoft.com/office/drawing/2014/main" id="{41013C95-CDFD-822C-B8C5-E80D480FD30D}"/>
              </a:ext>
            </a:extLst>
          </p:cNvPr>
          <p:cNvCxnSpPr/>
          <p:nvPr/>
        </p:nvCxnSpPr>
        <p:spPr>
          <a:xfrm>
            <a:off x="4664391" y="4052056"/>
            <a:ext cx="1565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52">
            <a:extLst>
              <a:ext uri="{FF2B5EF4-FFF2-40B4-BE49-F238E27FC236}">
                <a16:creationId xmlns:a16="http://schemas.microsoft.com/office/drawing/2014/main" id="{11AB80D7-EFB9-BEE0-67D8-2552344A44EB}"/>
              </a:ext>
            </a:extLst>
          </p:cNvPr>
          <p:cNvCxnSpPr/>
          <p:nvPr/>
        </p:nvCxnSpPr>
        <p:spPr>
          <a:xfrm>
            <a:off x="378541" y="4061337"/>
            <a:ext cx="1565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52">
            <a:extLst>
              <a:ext uri="{FF2B5EF4-FFF2-40B4-BE49-F238E27FC236}">
                <a16:creationId xmlns:a16="http://schemas.microsoft.com/office/drawing/2014/main" id="{C80B3309-4F88-32FC-D126-73C16BF11786}"/>
              </a:ext>
            </a:extLst>
          </p:cNvPr>
          <p:cNvCxnSpPr/>
          <p:nvPr/>
        </p:nvCxnSpPr>
        <p:spPr>
          <a:xfrm>
            <a:off x="2492605" y="4056150"/>
            <a:ext cx="1565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EDFC3F-63BB-67BC-85E1-029F815233CE}"/>
              </a:ext>
            </a:extLst>
          </p:cNvPr>
          <p:cNvSpPr txBox="1"/>
          <p:nvPr/>
        </p:nvSpPr>
        <p:spPr>
          <a:xfrm>
            <a:off x="-47849" y="885042"/>
            <a:ext cx="924500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 over </a:t>
            </a:r>
            <a:r>
              <a:rPr lang="en-US" sz="1600" b="1" dirty="0">
                <a:solidFill>
                  <a:srgbClr val="8B0000"/>
                </a:solidFill>
              </a:rPr>
              <a:t>40 million </a:t>
            </a:r>
            <a:r>
              <a:rPr lang="en-US" dirty="0"/>
              <a:t>people in Tiers 1-3, a projected program participation rate of </a:t>
            </a:r>
            <a:r>
              <a:rPr lang="en-US" b="1" dirty="0">
                <a:solidFill>
                  <a:srgbClr val="FF4500"/>
                </a:solidFill>
              </a:rPr>
              <a:t>50-85%</a:t>
            </a:r>
            <a:r>
              <a:rPr lang="en-US" dirty="0"/>
              <a:t> (on par with SNAP participation in 2022 for different groups, according to the USDA) would mean </a:t>
            </a:r>
            <a:r>
              <a:rPr lang="en-US" sz="1800" b="1" dirty="0">
                <a:solidFill>
                  <a:srgbClr val="8B0000"/>
                </a:solidFill>
              </a:rPr>
              <a:t>20-34 million </a:t>
            </a:r>
            <a:r>
              <a:rPr lang="en-US" dirty="0"/>
              <a:t>people assisted.</a:t>
            </a:r>
          </a:p>
        </p:txBody>
      </p:sp>
      <p:grpSp>
        <p:nvGrpSpPr>
          <p:cNvPr id="22" name="Google Shape;445;p48">
            <a:extLst>
              <a:ext uri="{FF2B5EF4-FFF2-40B4-BE49-F238E27FC236}">
                <a16:creationId xmlns:a16="http://schemas.microsoft.com/office/drawing/2014/main" id="{070961BB-2F08-6EF5-C993-499D5FA82701}"/>
              </a:ext>
            </a:extLst>
          </p:cNvPr>
          <p:cNvGrpSpPr/>
          <p:nvPr/>
        </p:nvGrpSpPr>
        <p:grpSpPr>
          <a:xfrm>
            <a:off x="3062783" y="2774780"/>
            <a:ext cx="320040" cy="320040"/>
            <a:chOff x="5574968" y="2686737"/>
            <a:chExt cx="419724" cy="416041"/>
          </a:xfrm>
        </p:grpSpPr>
        <p:sp>
          <p:nvSpPr>
            <p:cNvPr id="23" name="Google Shape;446;p48">
              <a:extLst>
                <a:ext uri="{FF2B5EF4-FFF2-40B4-BE49-F238E27FC236}">
                  <a16:creationId xmlns:a16="http://schemas.microsoft.com/office/drawing/2014/main" id="{B65E1B57-2EFA-BDD7-66D2-595F9D3A1F0C}"/>
                </a:ext>
              </a:extLst>
            </p:cNvPr>
            <p:cNvSpPr/>
            <p:nvPr/>
          </p:nvSpPr>
          <p:spPr>
            <a:xfrm>
              <a:off x="5574968" y="2686737"/>
              <a:ext cx="419724" cy="415963"/>
            </a:xfrm>
            <a:custGeom>
              <a:avLst/>
              <a:gdLst/>
              <a:ahLst/>
              <a:cxnLst/>
              <a:rect l="l" t="t" r="r" b="b"/>
              <a:pathLst>
                <a:path w="10826" h="10729" extrusionOk="0">
                  <a:moveTo>
                    <a:pt x="1528" y="841"/>
                  </a:moveTo>
                  <a:lnTo>
                    <a:pt x="1528" y="841"/>
                  </a:lnTo>
                  <a:cubicBezTo>
                    <a:pt x="1773" y="844"/>
                    <a:pt x="2142" y="890"/>
                    <a:pt x="2358" y="1107"/>
                  </a:cubicBezTo>
                  <a:cubicBezTo>
                    <a:pt x="2542" y="1292"/>
                    <a:pt x="2607" y="1599"/>
                    <a:pt x="2623" y="1850"/>
                  </a:cubicBezTo>
                  <a:cubicBezTo>
                    <a:pt x="2404" y="1769"/>
                    <a:pt x="2199" y="1722"/>
                    <a:pt x="1951" y="1722"/>
                  </a:cubicBezTo>
                  <a:cubicBezTo>
                    <a:pt x="1920" y="1722"/>
                    <a:pt x="1888" y="1723"/>
                    <a:pt x="1856" y="1724"/>
                  </a:cubicBezTo>
                  <a:cubicBezTo>
                    <a:pt x="1835" y="1708"/>
                    <a:pt x="1815" y="1689"/>
                    <a:pt x="1796" y="1671"/>
                  </a:cubicBezTo>
                  <a:cubicBezTo>
                    <a:pt x="1590" y="1465"/>
                    <a:pt x="1533" y="1105"/>
                    <a:pt x="1528" y="841"/>
                  </a:cubicBezTo>
                  <a:close/>
                  <a:moveTo>
                    <a:pt x="7025" y="3144"/>
                  </a:moveTo>
                  <a:cubicBezTo>
                    <a:pt x="8697" y="3294"/>
                    <a:pt x="10032" y="4629"/>
                    <a:pt x="10183" y="6301"/>
                  </a:cubicBezTo>
                  <a:lnTo>
                    <a:pt x="7025" y="6301"/>
                  </a:lnTo>
                  <a:lnTo>
                    <a:pt x="7025" y="3144"/>
                  </a:lnTo>
                  <a:close/>
                  <a:moveTo>
                    <a:pt x="1949" y="2350"/>
                  </a:moveTo>
                  <a:cubicBezTo>
                    <a:pt x="2037" y="2350"/>
                    <a:pt x="2126" y="2360"/>
                    <a:pt x="2216" y="2381"/>
                  </a:cubicBezTo>
                  <a:cubicBezTo>
                    <a:pt x="2523" y="2453"/>
                    <a:pt x="2735" y="2622"/>
                    <a:pt x="2736" y="2622"/>
                  </a:cubicBezTo>
                  <a:cubicBezTo>
                    <a:pt x="2794" y="2671"/>
                    <a:pt x="2864" y="2695"/>
                    <a:pt x="2935" y="2695"/>
                  </a:cubicBezTo>
                  <a:cubicBezTo>
                    <a:pt x="3005" y="2695"/>
                    <a:pt x="3075" y="2671"/>
                    <a:pt x="3133" y="2623"/>
                  </a:cubicBezTo>
                  <a:cubicBezTo>
                    <a:pt x="3136" y="2622"/>
                    <a:pt x="3347" y="2453"/>
                    <a:pt x="3655" y="2381"/>
                  </a:cubicBezTo>
                  <a:cubicBezTo>
                    <a:pt x="3744" y="2361"/>
                    <a:pt x="3833" y="2350"/>
                    <a:pt x="3920" y="2350"/>
                  </a:cubicBezTo>
                  <a:cubicBezTo>
                    <a:pt x="4206" y="2350"/>
                    <a:pt x="4477" y="2461"/>
                    <a:pt x="4731" y="2681"/>
                  </a:cubicBezTo>
                  <a:cubicBezTo>
                    <a:pt x="5510" y="3360"/>
                    <a:pt x="5045" y="4408"/>
                    <a:pt x="4548" y="5337"/>
                  </a:cubicBezTo>
                  <a:cubicBezTo>
                    <a:pt x="4367" y="5677"/>
                    <a:pt x="4155" y="6127"/>
                    <a:pt x="3919" y="6287"/>
                  </a:cubicBezTo>
                  <a:cubicBezTo>
                    <a:pt x="3823" y="6354"/>
                    <a:pt x="3717" y="6380"/>
                    <a:pt x="3608" y="6380"/>
                  </a:cubicBezTo>
                  <a:cubicBezTo>
                    <a:pt x="3424" y="6380"/>
                    <a:pt x="3231" y="6306"/>
                    <a:pt x="3066" y="6230"/>
                  </a:cubicBezTo>
                  <a:cubicBezTo>
                    <a:pt x="3024" y="6211"/>
                    <a:pt x="2979" y="6201"/>
                    <a:pt x="2934" y="6201"/>
                  </a:cubicBezTo>
                  <a:cubicBezTo>
                    <a:pt x="2890" y="6201"/>
                    <a:pt x="2845" y="6211"/>
                    <a:pt x="2803" y="6230"/>
                  </a:cubicBezTo>
                  <a:cubicBezTo>
                    <a:pt x="2639" y="6306"/>
                    <a:pt x="2446" y="6380"/>
                    <a:pt x="2263" y="6380"/>
                  </a:cubicBezTo>
                  <a:cubicBezTo>
                    <a:pt x="2153" y="6380"/>
                    <a:pt x="2047" y="6354"/>
                    <a:pt x="1952" y="6287"/>
                  </a:cubicBezTo>
                  <a:cubicBezTo>
                    <a:pt x="1717" y="6127"/>
                    <a:pt x="1504" y="5677"/>
                    <a:pt x="1322" y="5337"/>
                  </a:cubicBezTo>
                  <a:cubicBezTo>
                    <a:pt x="826" y="4407"/>
                    <a:pt x="359" y="3360"/>
                    <a:pt x="1139" y="2681"/>
                  </a:cubicBezTo>
                  <a:cubicBezTo>
                    <a:pt x="1393" y="2461"/>
                    <a:pt x="1664" y="2350"/>
                    <a:pt x="1949" y="2350"/>
                  </a:cubicBezTo>
                  <a:close/>
                  <a:moveTo>
                    <a:pt x="6396" y="3144"/>
                  </a:moveTo>
                  <a:lnTo>
                    <a:pt x="6396" y="10087"/>
                  </a:lnTo>
                  <a:cubicBezTo>
                    <a:pt x="4734" y="9938"/>
                    <a:pt x="3404" y="8617"/>
                    <a:pt x="3242" y="6958"/>
                  </a:cubicBezTo>
                  <a:lnTo>
                    <a:pt x="3242" y="6958"/>
                  </a:lnTo>
                  <a:cubicBezTo>
                    <a:pt x="3366" y="6991"/>
                    <a:pt x="3492" y="7008"/>
                    <a:pt x="3616" y="7008"/>
                  </a:cubicBezTo>
                  <a:cubicBezTo>
                    <a:pt x="3853" y="7008"/>
                    <a:pt x="4082" y="6945"/>
                    <a:pt x="4281" y="6801"/>
                  </a:cubicBezTo>
                  <a:cubicBezTo>
                    <a:pt x="4652" y="6545"/>
                    <a:pt x="4872" y="6068"/>
                    <a:pt x="5104" y="5635"/>
                  </a:cubicBezTo>
                  <a:cubicBezTo>
                    <a:pt x="5352" y="5170"/>
                    <a:pt x="5627" y="4625"/>
                    <a:pt x="5731" y="4051"/>
                  </a:cubicBezTo>
                  <a:cubicBezTo>
                    <a:pt x="5783" y="3769"/>
                    <a:pt x="5788" y="3506"/>
                    <a:pt x="5749" y="3266"/>
                  </a:cubicBezTo>
                  <a:cubicBezTo>
                    <a:pt x="5960" y="3205"/>
                    <a:pt x="6177" y="3165"/>
                    <a:pt x="6396" y="3144"/>
                  </a:cubicBezTo>
                  <a:close/>
                  <a:moveTo>
                    <a:pt x="3688" y="0"/>
                  </a:moveTo>
                  <a:cubicBezTo>
                    <a:pt x="3600" y="0"/>
                    <a:pt x="3512" y="38"/>
                    <a:pt x="3449" y="110"/>
                  </a:cubicBezTo>
                  <a:cubicBezTo>
                    <a:pt x="3243" y="352"/>
                    <a:pt x="3087" y="612"/>
                    <a:pt x="2970" y="869"/>
                  </a:cubicBezTo>
                  <a:cubicBezTo>
                    <a:pt x="2923" y="796"/>
                    <a:pt x="2867" y="727"/>
                    <a:pt x="2804" y="662"/>
                  </a:cubicBezTo>
                  <a:cubicBezTo>
                    <a:pt x="2418" y="276"/>
                    <a:pt x="1837" y="211"/>
                    <a:pt x="1485" y="211"/>
                  </a:cubicBezTo>
                  <a:cubicBezTo>
                    <a:pt x="1315" y="211"/>
                    <a:pt x="1199" y="226"/>
                    <a:pt x="1185" y="228"/>
                  </a:cubicBezTo>
                  <a:cubicBezTo>
                    <a:pt x="1046" y="247"/>
                    <a:pt x="937" y="357"/>
                    <a:pt x="917" y="496"/>
                  </a:cubicBezTo>
                  <a:cubicBezTo>
                    <a:pt x="912" y="533"/>
                    <a:pt x="807" y="1323"/>
                    <a:pt x="1180" y="1901"/>
                  </a:cubicBezTo>
                  <a:cubicBezTo>
                    <a:pt x="1030" y="1974"/>
                    <a:pt x="879" y="2074"/>
                    <a:pt x="726" y="2206"/>
                  </a:cubicBezTo>
                  <a:cubicBezTo>
                    <a:pt x="197" y="2667"/>
                    <a:pt x="0" y="3288"/>
                    <a:pt x="140" y="4048"/>
                  </a:cubicBezTo>
                  <a:cubicBezTo>
                    <a:pt x="244" y="4623"/>
                    <a:pt x="518" y="5167"/>
                    <a:pt x="767" y="5632"/>
                  </a:cubicBezTo>
                  <a:cubicBezTo>
                    <a:pt x="998" y="6065"/>
                    <a:pt x="1219" y="6542"/>
                    <a:pt x="1590" y="6798"/>
                  </a:cubicBezTo>
                  <a:cubicBezTo>
                    <a:pt x="1785" y="6937"/>
                    <a:pt x="2005" y="7006"/>
                    <a:pt x="2251" y="7006"/>
                  </a:cubicBezTo>
                  <a:cubicBezTo>
                    <a:pt x="2365" y="7006"/>
                    <a:pt x="2485" y="6991"/>
                    <a:pt x="2611" y="6961"/>
                  </a:cubicBezTo>
                  <a:cubicBezTo>
                    <a:pt x="2788" y="9068"/>
                    <a:pt x="4559" y="10728"/>
                    <a:pt x="6710" y="10728"/>
                  </a:cubicBezTo>
                  <a:cubicBezTo>
                    <a:pt x="6885" y="10728"/>
                    <a:pt x="7025" y="10588"/>
                    <a:pt x="7025" y="10413"/>
                  </a:cubicBezTo>
                  <a:lnTo>
                    <a:pt x="7025" y="6929"/>
                  </a:lnTo>
                  <a:lnTo>
                    <a:pt x="10511" y="6929"/>
                  </a:lnTo>
                  <a:cubicBezTo>
                    <a:pt x="10684" y="6929"/>
                    <a:pt x="10826" y="6788"/>
                    <a:pt x="10826" y="6616"/>
                  </a:cubicBezTo>
                  <a:cubicBezTo>
                    <a:pt x="10826" y="4346"/>
                    <a:pt x="8980" y="2502"/>
                    <a:pt x="6711" y="2502"/>
                  </a:cubicBezTo>
                  <a:cubicBezTo>
                    <a:pt x="6311" y="2502"/>
                    <a:pt x="5916" y="2559"/>
                    <a:pt x="5537" y="2671"/>
                  </a:cubicBezTo>
                  <a:cubicBezTo>
                    <a:pt x="5437" y="2503"/>
                    <a:pt x="5307" y="2348"/>
                    <a:pt x="5146" y="2207"/>
                  </a:cubicBezTo>
                  <a:cubicBezTo>
                    <a:pt x="4703" y="1840"/>
                    <a:pt x="4309" y="1719"/>
                    <a:pt x="3947" y="1719"/>
                  </a:cubicBezTo>
                  <a:cubicBezTo>
                    <a:pt x="3727" y="1719"/>
                    <a:pt x="3518" y="1764"/>
                    <a:pt x="3318" y="1825"/>
                  </a:cubicBezTo>
                  <a:cubicBezTo>
                    <a:pt x="3398" y="1446"/>
                    <a:pt x="3567" y="940"/>
                    <a:pt x="3927" y="521"/>
                  </a:cubicBezTo>
                  <a:cubicBezTo>
                    <a:pt x="4041" y="389"/>
                    <a:pt x="4025" y="191"/>
                    <a:pt x="3893" y="77"/>
                  </a:cubicBezTo>
                  <a:cubicBezTo>
                    <a:pt x="3834" y="25"/>
                    <a:pt x="3761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47;p48">
              <a:extLst>
                <a:ext uri="{FF2B5EF4-FFF2-40B4-BE49-F238E27FC236}">
                  <a16:creationId xmlns:a16="http://schemas.microsoft.com/office/drawing/2014/main" id="{70AA4451-51BA-9132-7D70-9CDB73CF99F4}"/>
                </a:ext>
              </a:extLst>
            </p:cNvPr>
            <p:cNvSpPr/>
            <p:nvPr/>
          </p:nvSpPr>
          <p:spPr>
            <a:xfrm>
              <a:off x="5872023" y="2980110"/>
              <a:ext cx="122668" cy="122668"/>
            </a:xfrm>
            <a:custGeom>
              <a:avLst/>
              <a:gdLst/>
              <a:ahLst/>
              <a:cxnLst/>
              <a:rect l="l" t="t" r="r" b="b"/>
              <a:pathLst>
                <a:path w="3164" h="3164" extrusionOk="0">
                  <a:moveTo>
                    <a:pt x="2512" y="630"/>
                  </a:moveTo>
                  <a:cubicBezTo>
                    <a:pt x="2374" y="1602"/>
                    <a:pt x="1603" y="2373"/>
                    <a:pt x="630" y="2512"/>
                  </a:cubicBezTo>
                  <a:lnTo>
                    <a:pt x="630" y="630"/>
                  </a:lnTo>
                  <a:close/>
                  <a:moveTo>
                    <a:pt x="316" y="0"/>
                  </a:moveTo>
                  <a:cubicBezTo>
                    <a:pt x="141" y="0"/>
                    <a:pt x="1" y="142"/>
                    <a:pt x="1" y="315"/>
                  </a:cubicBezTo>
                  <a:lnTo>
                    <a:pt x="1" y="2849"/>
                  </a:lnTo>
                  <a:cubicBezTo>
                    <a:pt x="1" y="3023"/>
                    <a:pt x="141" y="3163"/>
                    <a:pt x="316" y="3163"/>
                  </a:cubicBezTo>
                  <a:cubicBezTo>
                    <a:pt x="1885" y="3163"/>
                    <a:pt x="3162" y="1887"/>
                    <a:pt x="3162" y="317"/>
                  </a:cubicBezTo>
                  <a:cubicBezTo>
                    <a:pt x="3164" y="142"/>
                    <a:pt x="3022" y="0"/>
                    <a:pt x="28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435;p48">
            <a:extLst>
              <a:ext uri="{FF2B5EF4-FFF2-40B4-BE49-F238E27FC236}">
                <a16:creationId xmlns:a16="http://schemas.microsoft.com/office/drawing/2014/main" id="{0B6A55BF-14F0-9407-161D-2DB0FA837B8C}"/>
              </a:ext>
            </a:extLst>
          </p:cNvPr>
          <p:cNvSpPr/>
          <p:nvPr/>
        </p:nvSpPr>
        <p:spPr>
          <a:xfrm>
            <a:off x="1007132" y="282548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10827" h="10730" extrusionOk="0">
                <a:moveTo>
                  <a:pt x="2335" y="629"/>
                </a:moveTo>
                <a:cubicBezTo>
                  <a:pt x="2635" y="629"/>
                  <a:pt x="2937" y="824"/>
                  <a:pt x="3045" y="1106"/>
                </a:cubicBezTo>
                <a:cubicBezTo>
                  <a:pt x="3092" y="1226"/>
                  <a:pt x="3206" y="1307"/>
                  <a:pt x="3335" y="1308"/>
                </a:cubicBezTo>
                <a:cubicBezTo>
                  <a:pt x="3391" y="1308"/>
                  <a:pt x="3447" y="1315"/>
                  <a:pt x="3499" y="1327"/>
                </a:cubicBezTo>
                <a:cubicBezTo>
                  <a:pt x="3288" y="1573"/>
                  <a:pt x="3163" y="1892"/>
                  <a:pt x="3163" y="2235"/>
                </a:cubicBezTo>
                <a:cubicBezTo>
                  <a:pt x="3163" y="2345"/>
                  <a:pt x="3175" y="2452"/>
                  <a:pt x="3200" y="2556"/>
                </a:cubicBezTo>
                <a:cubicBezTo>
                  <a:pt x="2892" y="2819"/>
                  <a:pt x="2711" y="3206"/>
                  <a:pt x="2711" y="3615"/>
                </a:cubicBezTo>
                <a:cubicBezTo>
                  <a:pt x="2711" y="3789"/>
                  <a:pt x="2743" y="3959"/>
                  <a:pt x="2805" y="4119"/>
                </a:cubicBezTo>
                <a:cubicBezTo>
                  <a:pt x="2593" y="4368"/>
                  <a:pt x="2476" y="4684"/>
                  <a:pt x="2476" y="5018"/>
                </a:cubicBezTo>
                <a:cubicBezTo>
                  <a:pt x="2476" y="5352"/>
                  <a:pt x="2593" y="5668"/>
                  <a:pt x="2805" y="5917"/>
                </a:cubicBezTo>
                <a:cubicBezTo>
                  <a:pt x="2743" y="6076"/>
                  <a:pt x="2711" y="6246"/>
                  <a:pt x="2711" y="6417"/>
                </a:cubicBezTo>
                <a:cubicBezTo>
                  <a:pt x="2706" y="6786"/>
                  <a:pt x="2850" y="7133"/>
                  <a:pt x="3116" y="7400"/>
                </a:cubicBezTo>
                <a:cubicBezTo>
                  <a:pt x="3278" y="7562"/>
                  <a:pt x="3478" y="7681"/>
                  <a:pt x="3692" y="7750"/>
                </a:cubicBezTo>
                <a:cubicBezTo>
                  <a:pt x="3629" y="7782"/>
                  <a:pt x="3561" y="7805"/>
                  <a:pt x="3493" y="7818"/>
                </a:cubicBezTo>
                <a:cubicBezTo>
                  <a:pt x="3491" y="7818"/>
                  <a:pt x="3490" y="7818"/>
                  <a:pt x="3489" y="7819"/>
                </a:cubicBezTo>
                <a:cubicBezTo>
                  <a:pt x="3488" y="7819"/>
                  <a:pt x="3486" y="7819"/>
                  <a:pt x="3485" y="7820"/>
                </a:cubicBezTo>
                <a:cubicBezTo>
                  <a:pt x="3443" y="7828"/>
                  <a:pt x="3399" y="7832"/>
                  <a:pt x="3356" y="7832"/>
                </a:cubicBezTo>
                <a:cubicBezTo>
                  <a:pt x="3152" y="7832"/>
                  <a:pt x="2942" y="7743"/>
                  <a:pt x="2796" y="7588"/>
                </a:cubicBezTo>
                <a:cubicBezTo>
                  <a:pt x="2634" y="7419"/>
                  <a:pt x="2412" y="7324"/>
                  <a:pt x="2184" y="7324"/>
                </a:cubicBezTo>
                <a:cubicBezTo>
                  <a:pt x="2142" y="7324"/>
                  <a:pt x="2100" y="7327"/>
                  <a:pt x="2058" y="7334"/>
                </a:cubicBezTo>
                <a:cubicBezTo>
                  <a:pt x="2020" y="7339"/>
                  <a:pt x="1982" y="7342"/>
                  <a:pt x="1945" y="7342"/>
                </a:cubicBezTo>
                <a:cubicBezTo>
                  <a:pt x="1579" y="7342"/>
                  <a:pt x="1245" y="7076"/>
                  <a:pt x="1187" y="6715"/>
                </a:cubicBezTo>
                <a:cubicBezTo>
                  <a:pt x="1187" y="6714"/>
                  <a:pt x="1187" y="6713"/>
                  <a:pt x="1185" y="6710"/>
                </a:cubicBezTo>
                <a:cubicBezTo>
                  <a:pt x="1161" y="6570"/>
                  <a:pt x="1175" y="6426"/>
                  <a:pt x="1227" y="6295"/>
                </a:cubicBezTo>
                <a:cubicBezTo>
                  <a:pt x="1285" y="6148"/>
                  <a:pt x="1225" y="5982"/>
                  <a:pt x="1086" y="5905"/>
                </a:cubicBezTo>
                <a:cubicBezTo>
                  <a:pt x="885" y="5793"/>
                  <a:pt x="746" y="5599"/>
                  <a:pt x="705" y="5372"/>
                </a:cubicBezTo>
                <a:cubicBezTo>
                  <a:pt x="663" y="5145"/>
                  <a:pt x="727" y="4913"/>
                  <a:pt x="878" y="4739"/>
                </a:cubicBezTo>
                <a:cubicBezTo>
                  <a:pt x="980" y="4619"/>
                  <a:pt x="978" y="4443"/>
                  <a:pt x="873" y="4325"/>
                </a:cubicBezTo>
                <a:cubicBezTo>
                  <a:pt x="779" y="4219"/>
                  <a:pt x="714" y="4090"/>
                  <a:pt x="689" y="3950"/>
                </a:cubicBezTo>
                <a:cubicBezTo>
                  <a:pt x="641" y="3680"/>
                  <a:pt x="743" y="3403"/>
                  <a:pt x="954" y="3226"/>
                </a:cubicBezTo>
                <a:cubicBezTo>
                  <a:pt x="1079" y="3121"/>
                  <a:pt x="1104" y="2940"/>
                  <a:pt x="1012" y="2806"/>
                </a:cubicBezTo>
                <a:cubicBezTo>
                  <a:pt x="950" y="2717"/>
                  <a:pt x="910" y="2617"/>
                  <a:pt x="891" y="2510"/>
                </a:cubicBezTo>
                <a:cubicBezTo>
                  <a:pt x="826" y="2149"/>
                  <a:pt x="1028" y="1792"/>
                  <a:pt x="1370" y="1661"/>
                </a:cubicBezTo>
                <a:cubicBezTo>
                  <a:pt x="1491" y="1614"/>
                  <a:pt x="1572" y="1500"/>
                  <a:pt x="1574" y="1371"/>
                </a:cubicBezTo>
                <a:cubicBezTo>
                  <a:pt x="1577" y="1025"/>
                  <a:pt x="1858" y="700"/>
                  <a:pt x="2198" y="643"/>
                </a:cubicBezTo>
                <a:cubicBezTo>
                  <a:pt x="2243" y="634"/>
                  <a:pt x="2289" y="629"/>
                  <a:pt x="2335" y="629"/>
                </a:cubicBezTo>
                <a:close/>
                <a:moveTo>
                  <a:pt x="8491" y="630"/>
                </a:moveTo>
                <a:cubicBezTo>
                  <a:pt x="8534" y="630"/>
                  <a:pt x="8577" y="634"/>
                  <a:pt x="8619" y="642"/>
                </a:cubicBezTo>
                <a:cubicBezTo>
                  <a:pt x="8964" y="694"/>
                  <a:pt x="9249" y="1021"/>
                  <a:pt x="9254" y="1371"/>
                </a:cubicBezTo>
                <a:cubicBezTo>
                  <a:pt x="9255" y="1500"/>
                  <a:pt x="9335" y="1614"/>
                  <a:pt x="9456" y="1661"/>
                </a:cubicBezTo>
                <a:cubicBezTo>
                  <a:pt x="9800" y="1792"/>
                  <a:pt x="10001" y="2149"/>
                  <a:pt x="9936" y="2510"/>
                </a:cubicBezTo>
                <a:cubicBezTo>
                  <a:pt x="9917" y="2617"/>
                  <a:pt x="9876" y="2717"/>
                  <a:pt x="9815" y="2806"/>
                </a:cubicBezTo>
                <a:cubicBezTo>
                  <a:pt x="9723" y="2940"/>
                  <a:pt x="9748" y="3121"/>
                  <a:pt x="9873" y="3226"/>
                </a:cubicBezTo>
                <a:cubicBezTo>
                  <a:pt x="10083" y="3402"/>
                  <a:pt x="10184" y="3679"/>
                  <a:pt x="10136" y="3949"/>
                </a:cubicBezTo>
                <a:cubicBezTo>
                  <a:pt x="10112" y="4089"/>
                  <a:pt x="10047" y="4218"/>
                  <a:pt x="9953" y="4324"/>
                </a:cubicBezTo>
                <a:cubicBezTo>
                  <a:pt x="9847" y="4441"/>
                  <a:pt x="9846" y="4618"/>
                  <a:pt x="9948" y="4738"/>
                </a:cubicBezTo>
                <a:cubicBezTo>
                  <a:pt x="10098" y="4913"/>
                  <a:pt x="10161" y="5145"/>
                  <a:pt x="10120" y="5370"/>
                </a:cubicBezTo>
                <a:cubicBezTo>
                  <a:pt x="10079" y="5597"/>
                  <a:pt x="9942" y="5792"/>
                  <a:pt x="9739" y="5904"/>
                </a:cubicBezTo>
                <a:cubicBezTo>
                  <a:pt x="9601" y="5981"/>
                  <a:pt x="9542" y="6148"/>
                  <a:pt x="9599" y="6293"/>
                </a:cubicBezTo>
                <a:cubicBezTo>
                  <a:pt x="9651" y="6425"/>
                  <a:pt x="9665" y="6570"/>
                  <a:pt x="9641" y="6709"/>
                </a:cubicBezTo>
                <a:cubicBezTo>
                  <a:pt x="9641" y="6710"/>
                  <a:pt x="9641" y="6711"/>
                  <a:pt x="9640" y="6714"/>
                </a:cubicBezTo>
                <a:cubicBezTo>
                  <a:pt x="9581" y="7075"/>
                  <a:pt x="9246" y="7341"/>
                  <a:pt x="8881" y="7341"/>
                </a:cubicBezTo>
                <a:cubicBezTo>
                  <a:pt x="8844" y="7341"/>
                  <a:pt x="8806" y="7338"/>
                  <a:pt x="8769" y="7332"/>
                </a:cubicBezTo>
                <a:cubicBezTo>
                  <a:pt x="8727" y="7326"/>
                  <a:pt x="8685" y="7323"/>
                  <a:pt x="8644" y="7323"/>
                </a:cubicBezTo>
                <a:cubicBezTo>
                  <a:pt x="8416" y="7323"/>
                  <a:pt x="8192" y="7417"/>
                  <a:pt x="8030" y="7588"/>
                </a:cubicBezTo>
                <a:cubicBezTo>
                  <a:pt x="7882" y="7743"/>
                  <a:pt x="7672" y="7832"/>
                  <a:pt x="7469" y="7832"/>
                </a:cubicBezTo>
                <a:cubicBezTo>
                  <a:pt x="7426" y="7832"/>
                  <a:pt x="7383" y="7828"/>
                  <a:pt x="7341" y="7820"/>
                </a:cubicBezTo>
                <a:cubicBezTo>
                  <a:pt x="7339" y="7820"/>
                  <a:pt x="7338" y="7820"/>
                  <a:pt x="7337" y="7819"/>
                </a:cubicBezTo>
                <a:cubicBezTo>
                  <a:pt x="7335" y="7819"/>
                  <a:pt x="7334" y="7819"/>
                  <a:pt x="7333" y="7818"/>
                </a:cubicBezTo>
                <a:cubicBezTo>
                  <a:pt x="7265" y="7805"/>
                  <a:pt x="7196" y="7782"/>
                  <a:pt x="7133" y="7750"/>
                </a:cubicBezTo>
                <a:cubicBezTo>
                  <a:pt x="7348" y="7681"/>
                  <a:pt x="7548" y="7562"/>
                  <a:pt x="7710" y="7399"/>
                </a:cubicBezTo>
                <a:cubicBezTo>
                  <a:pt x="7975" y="7133"/>
                  <a:pt x="8119" y="6785"/>
                  <a:pt x="8114" y="6417"/>
                </a:cubicBezTo>
                <a:cubicBezTo>
                  <a:pt x="8114" y="6245"/>
                  <a:pt x="8082" y="6076"/>
                  <a:pt x="8020" y="5917"/>
                </a:cubicBezTo>
                <a:cubicBezTo>
                  <a:pt x="8232" y="5668"/>
                  <a:pt x="8350" y="5351"/>
                  <a:pt x="8350" y="5018"/>
                </a:cubicBezTo>
                <a:cubicBezTo>
                  <a:pt x="8350" y="4683"/>
                  <a:pt x="8232" y="4368"/>
                  <a:pt x="8020" y="4119"/>
                </a:cubicBezTo>
                <a:cubicBezTo>
                  <a:pt x="8082" y="3959"/>
                  <a:pt x="8114" y="3789"/>
                  <a:pt x="8114" y="3615"/>
                </a:cubicBezTo>
                <a:cubicBezTo>
                  <a:pt x="8114" y="3206"/>
                  <a:pt x="7933" y="2819"/>
                  <a:pt x="7626" y="2556"/>
                </a:cubicBezTo>
                <a:cubicBezTo>
                  <a:pt x="7650" y="2452"/>
                  <a:pt x="7663" y="2344"/>
                  <a:pt x="7663" y="2235"/>
                </a:cubicBezTo>
                <a:cubicBezTo>
                  <a:pt x="7663" y="1892"/>
                  <a:pt x="7536" y="1573"/>
                  <a:pt x="7327" y="1327"/>
                </a:cubicBezTo>
                <a:cubicBezTo>
                  <a:pt x="7379" y="1314"/>
                  <a:pt x="7435" y="1308"/>
                  <a:pt x="7490" y="1308"/>
                </a:cubicBezTo>
                <a:cubicBezTo>
                  <a:pt x="7619" y="1307"/>
                  <a:pt x="7734" y="1226"/>
                  <a:pt x="7781" y="1106"/>
                </a:cubicBezTo>
                <a:cubicBezTo>
                  <a:pt x="7889" y="824"/>
                  <a:pt x="8191" y="630"/>
                  <a:pt x="8491" y="630"/>
                </a:cubicBezTo>
                <a:close/>
                <a:moveTo>
                  <a:pt x="5426" y="628"/>
                </a:moveTo>
                <a:cubicBezTo>
                  <a:pt x="5769" y="628"/>
                  <a:pt x="6099" y="897"/>
                  <a:pt x="6165" y="1234"/>
                </a:cubicBezTo>
                <a:cubicBezTo>
                  <a:pt x="6189" y="1360"/>
                  <a:pt x="6289" y="1459"/>
                  <a:pt x="6415" y="1483"/>
                </a:cubicBezTo>
                <a:cubicBezTo>
                  <a:pt x="6775" y="1551"/>
                  <a:pt x="7037" y="1867"/>
                  <a:pt x="7037" y="2233"/>
                </a:cubicBezTo>
                <a:cubicBezTo>
                  <a:pt x="7037" y="2342"/>
                  <a:pt x="7013" y="2448"/>
                  <a:pt x="6970" y="2547"/>
                </a:cubicBezTo>
                <a:cubicBezTo>
                  <a:pt x="6903" y="2696"/>
                  <a:pt x="6959" y="2870"/>
                  <a:pt x="7101" y="2950"/>
                </a:cubicBezTo>
                <a:cubicBezTo>
                  <a:pt x="7339" y="3085"/>
                  <a:pt x="7489" y="3341"/>
                  <a:pt x="7489" y="3615"/>
                </a:cubicBezTo>
                <a:cubicBezTo>
                  <a:pt x="7489" y="3758"/>
                  <a:pt x="7450" y="3897"/>
                  <a:pt x="7375" y="4017"/>
                </a:cubicBezTo>
                <a:cubicBezTo>
                  <a:pt x="7293" y="4151"/>
                  <a:pt x="7322" y="4325"/>
                  <a:pt x="7445" y="4425"/>
                </a:cubicBezTo>
                <a:cubicBezTo>
                  <a:pt x="7623" y="4571"/>
                  <a:pt x="7725" y="4788"/>
                  <a:pt x="7725" y="5018"/>
                </a:cubicBezTo>
                <a:cubicBezTo>
                  <a:pt x="7725" y="5249"/>
                  <a:pt x="7623" y="5464"/>
                  <a:pt x="7445" y="5610"/>
                </a:cubicBezTo>
                <a:cubicBezTo>
                  <a:pt x="7322" y="5709"/>
                  <a:pt x="7293" y="5885"/>
                  <a:pt x="7375" y="6019"/>
                </a:cubicBezTo>
                <a:cubicBezTo>
                  <a:pt x="7451" y="6138"/>
                  <a:pt x="7489" y="6278"/>
                  <a:pt x="7489" y="6420"/>
                </a:cubicBezTo>
                <a:lnTo>
                  <a:pt x="7489" y="6425"/>
                </a:lnTo>
                <a:cubicBezTo>
                  <a:pt x="7496" y="6828"/>
                  <a:pt x="7152" y="7176"/>
                  <a:pt x="6741" y="7187"/>
                </a:cubicBezTo>
                <a:cubicBezTo>
                  <a:pt x="6462" y="7196"/>
                  <a:pt x="6208" y="7341"/>
                  <a:pt x="6056" y="7572"/>
                </a:cubicBezTo>
                <a:cubicBezTo>
                  <a:pt x="5975" y="7695"/>
                  <a:pt x="5858" y="7792"/>
                  <a:pt x="5728" y="7852"/>
                </a:cubicBezTo>
                <a:lnTo>
                  <a:pt x="5728" y="5354"/>
                </a:lnTo>
                <a:cubicBezTo>
                  <a:pt x="5982" y="4481"/>
                  <a:pt x="6652" y="4023"/>
                  <a:pt x="6661" y="4017"/>
                </a:cubicBezTo>
                <a:cubicBezTo>
                  <a:pt x="6806" y="3922"/>
                  <a:pt x="6846" y="3727"/>
                  <a:pt x="6750" y="3582"/>
                </a:cubicBezTo>
                <a:cubicBezTo>
                  <a:pt x="6690" y="3490"/>
                  <a:pt x="6589" y="3440"/>
                  <a:pt x="6486" y="3440"/>
                </a:cubicBezTo>
                <a:cubicBezTo>
                  <a:pt x="6428" y="3440"/>
                  <a:pt x="6368" y="3457"/>
                  <a:pt x="6316" y="3491"/>
                </a:cubicBezTo>
                <a:cubicBezTo>
                  <a:pt x="6295" y="3505"/>
                  <a:pt x="6021" y="3687"/>
                  <a:pt x="5729" y="4044"/>
                </a:cubicBezTo>
                <a:lnTo>
                  <a:pt x="5729" y="2232"/>
                </a:lnTo>
                <a:cubicBezTo>
                  <a:pt x="5729" y="2059"/>
                  <a:pt x="5589" y="1918"/>
                  <a:pt x="5415" y="1918"/>
                </a:cubicBezTo>
                <a:cubicBezTo>
                  <a:pt x="5241" y="1918"/>
                  <a:pt x="5100" y="2059"/>
                  <a:pt x="5100" y="2232"/>
                </a:cubicBezTo>
                <a:lnTo>
                  <a:pt x="5100" y="5410"/>
                </a:lnTo>
                <a:cubicBezTo>
                  <a:pt x="4787" y="5020"/>
                  <a:pt x="4488" y="4820"/>
                  <a:pt x="4465" y="4805"/>
                </a:cubicBezTo>
                <a:cubicBezTo>
                  <a:pt x="4412" y="4770"/>
                  <a:pt x="4352" y="4753"/>
                  <a:pt x="4292" y="4753"/>
                </a:cubicBezTo>
                <a:cubicBezTo>
                  <a:pt x="4190" y="4753"/>
                  <a:pt x="4090" y="4803"/>
                  <a:pt x="4030" y="4894"/>
                </a:cubicBezTo>
                <a:cubicBezTo>
                  <a:pt x="3934" y="5038"/>
                  <a:pt x="3974" y="5233"/>
                  <a:pt x="4118" y="5328"/>
                </a:cubicBezTo>
                <a:cubicBezTo>
                  <a:pt x="4127" y="5334"/>
                  <a:pt x="4834" y="5815"/>
                  <a:pt x="5100" y="6736"/>
                </a:cubicBezTo>
                <a:lnTo>
                  <a:pt x="5100" y="7851"/>
                </a:lnTo>
                <a:cubicBezTo>
                  <a:pt x="4970" y="7790"/>
                  <a:pt x="4854" y="7694"/>
                  <a:pt x="4773" y="7571"/>
                </a:cubicBezTo>
                <a:cubicBezTo>
                  <a:pt x="4620" y="7340"/>
                  <a:pt x="4366" y="7195"/>
                  <a:pt x="4091" y="7187"/>
                </a:cubicBezTo>
                <a:cubicBezTo>
                  <a:pt x="3679" y="7178"/>
                  <a:pt x="3335" y="6828"/>
                  <a:pt x="3342" y="6425"/>
                </a:cubicBezTo>
                <a:lnTo>
                  <a:pt x="3342" y="6420"/>
                </a:lnTo>
                <a:cubicBezTo>
                  <a:pt x="3342" y="6278"/>
                  <a:pt x="3382" y="6138"/>
                  <a:pt x="3456" y="6019"/>
                </a:cubicBezTo>
                <a:cubicBezTo>
                  <a:pt x="3538" y="5885"/>
                  <a:pt x="3510" y="5710"/>
                  <a:pt x="3387" y="5610"/>
                </a:cubicBezTo>
                <a:cubicBezTo>
                  <a:pt x="3208" y="5464"/>
                  <a:pt x="3106" y="5247"/>
                  <a:pt x="3106" y="5018"/>
                </a:cubicBezTo>
                <a:cubicBezTo>
                  <a:pt x="3106" y="4788"/>
                  <a:pt x="3208" y="4571"/>
                  <a:pt x="3387" y="4425"/>
                </a:cubicBezTo>
                <a:cubicBezTo>
                  <a:pt x="3510" y="4326"/>
                  <a:pt x="3538" y="4151"/>
                  <a:pt x="3456" y="4017"/>
                </a:cubicBezTo>
                <a:cubicBezTo>
                  <a:pt x="3381" y="3897"/>
                  <a:pt x="3342" y="3758"/>
                  <a:pt x="3342" y="3615"/>
                </a:cubicBezTo>
                <a:cubicBezTo>
                  <a:pt x="3342" y="3341"/>
                  <a:pt x="3490" y="3087"/>
                  <a:pt x="3730" y="2950"/>
                </a:cubicBezTo>
                <a:cubicBezTo>
                  <a:pt x="3871" y="2870"/>
                  <a:pt x="3927" y="2696"/>
                  <a:pt x="3861" y="2547"/>
                </a:cubicBezTo>
                <a:cubicBezTo>
                  <a:pt x="3817" y="2448"/>
                  <a:pt x="3794" y="2342"/>
                  <a:pt x="3794" y="2233"/>
                </a:cubicBezTo>
                <a:cubicBezTo>
                  <a:pt x="3794" y="1866"/>
                  <a:pt x="4056" y="1550"/>
                  <a:pt x="4417" y="1483"/>
                </a:cubicBezTo>
                <a:cubicBezTo>
                  <a:pt x="4543" y="1458"/>
                  <a:pt x="4643" y="1360"/>
                  <a:pt x="4666" y="1234"/>
                </a:cubicBezTo>
                <a:cubicBezTo>
                  <a:pt x="4731" y="899"/>
                  <a:pt x="5059" y="629"/>
                  <a:pt x="5401" y="629"/>
                </a:cubicBezTo>
                <a:cubicBezTo>
                  <a:pt x="5409" y="628"/>
                  <a:pt x="5418" y="628"/>
                  <a:pt x="5426" y="628"/>
                </a:cubicBezTo>
                <a:close/>
                <a:moveTo>
                  <a:pt x="2339" y="1"/>
                </a:moveTo>
                <a:cubicBezTo>
                  <a:pt x="2257" y="1"/>
                  <a:pt x="2174" y="8"/>
                  <a:pt x="2094" y="24"/>
                </a:cubicBezTo>
                <a:cubicBezTo>
                  <a:pt x="1784" y="75"/>
                  <a:pt x="1497" y="241"/>
                  <a:pt x="1284" y="488"/>
                </a:cubicBezTo>
                <a:cubicBezTo>
                  <a:pt x="1115" y="683"/>
                  <a:pt x="1006" y="916"/>
                  <a:pt x="965" y="1159"/>
                </a:cubicBezTo>
                <a:cubicBezTo>
                  <a:pt x="453" y="1445"/>
                  <a:pt x="167" y="2030"/>
                  <a:pt x="273" y="2621"/>
                </a:cubicBezTo>
                <a:cubicBezTo>
                  <a:pt x="293" y="2730"/>
                  <a:pt x="323" y="2833"/>
                  <a:pt x="367" y="2931"/>
                </a:cubicBezTo>
                <a:cubicBezTo>
                  <a:pt x="112" y="3243"/>
                  <a:pt x="1" y="3655"/>
                  <a:pt x="73" y="4059"/>
                </a:cubicBezTo>
                <a:cubicBezTo>
                  <a:pt x="104" y="4229"/>
                  <a:pt x="165" y="4392"/>
                  <a:pt x="254" y="4538"/>
                </a:cubicBezTo>
                <a:cubicBezTo>
                  <a:pt x="89" y="4821"/>
                  <a:pt x="30" y="5153"/>
                  <a:pt x="88" y="5482"/>
                </a:cubicBezTo>
                <a:cubicBezTo>
                  <a:pt x="148" y="5810"/>
                  <a:pt x="320" y="6101"/>
                  <a:pt x="570" y="6309"/>
                </a:cubicBezTo>
                <a:cubicBezTo>
                  <a:pt x="538" y="6477"/>
                  <a:pt x="537" y="6648"/>
                  <a:pt x="567" y="6819"/>
                </a:cubicBezTo>
                <a:cubicBezTo>
                  <a:pt x="627" y="7181"/>
                  <a:pt x="830" y="7499"/>
                  <a:pt x="1140" y="7714"/>
                </a:cubicBezTo>
                <a:cubicBezTo>
                  <a:pt x="1379" y="7881"/>
                  <a:pt x="1666" y="7969"/>
                  <a:pt x="1951" y="7969"/>
                </a:cubicBezTo>
                <a:cubicBezTo>
                  <a:pt x="2019" y="7969"/>
                  <a:pt x="2086" y="7964"/>
                  <a:pt x="2153" y="7954"/>
                </a:cubicBezTo>
                <a:cubicBezTo>
                  <a:pt x="2163" y="7952"/>
                  <a:pt x="2173" y="7952"/>
                  <a:pt x="2183" y="7952"/>
                </a:cubicBezTo>
                <a:cubicBezTo>
                  <a:pt x="2241" y="7952"/>
                  <a:pt x="2299" y="7977"/>
                  <a:pt x="2342" y="8024"/>
                </a:cubicBezTo>
                <a:cubicBezTo>
                  <a:pt x="2592" y="8287"/>
                  <a:pt x="2936" y="8440"/>
                  <a:pt x="3287" y="8459"/>
                </a:cubicBezTo>
                <a:lnTo>
                  <a:pt x="3646" y="10470"/>
                </a:lnTo>
                <a:cubicBezTo>
                  <a:pt x="3674" y="10621"/>
                  <a:pt x="3806" y="10729"/>
                  <a:pt x="3955" y="10729"/>
                </a:cubicBezTo>
                <a:cubicBezTo>
                  <a:pt x="3974" y="10729"/>
                  <a:pt x="3994" y="10728"/>
                  <a:pt x="4011" y="10724"/>
                </a:cubicBezTo>
                <a:cubicBezTo>
                  <a:pt x="4181" y="10693"/>
                  <a:pt x="4297" y="10530"/>
                  <a:pt x="4265" y="10358"/>
                </a:cubicBezTo>
                <a:lnTo>
                  <a:pt x="3906" y="8348"/>
                </a:lnTo>
                <a:cubicBezTo>
                  <a:pt x="4069" y="8278"/>
                  <a:pt x="4217" y="8176"/>
                  <a:pt x="4344" y="8047"/>
                </a:cubicBezTo>
                <a:cubicBezTo>
                  <a:pt x="4542" y="8282"/>
                  <a:pt x="4810" y="8445"/>
                  <a:pt x="5100" y="8514"/>
                </a:cubicBezTo>
                <a:lnTo>
                  <a:pt x="5100" y="10415"/>
                </a:lnTo>
                <a:cubicBezTo>
                  <a:pt x="5100" y="10589"/>
                  <a:pt x="5240" y="10730"/>
                  <a:pt x="5415" y="10730"/>
                </a:cubicBezTo>
                <a:cubicBezTo>
                  <a:pt x="5589" y="10730"/>
                  <a:pt x="5729" y="10589"/>
                  <a:pt x="5729" y="10415"/>
                </a:cubicBezTo>
                <a:lnTo>
                  <a:pt x="5729" y="8514"/>
                </a:lnTo>
                <a:cubicBezTo>
                  <a:pt x="6021" y="8445"/>
                  <a:pt x="6290" y="8282"/>
                  <a:pt x="6486" y="8047"/>
                </a:cubicBezTo>
                <a:cubicBezTo>
                  <a:pt x="6612" y="8175"/>
                  <a:pt x="6761" y="8278"/>
                  <a:pt x="6924" y="8348"/>
                </a:cubicBezTo>
                <a:lnTo>
                  <a:pt x="6564" y="10358"/>
                </a:lnTo>
                <a:cubicBezTo>
                  <a:pt x="6533" y="10529"/>
                  <a:pt x="6647" y="10693"/>
                  <a:pt x="6818" y="10724"/>
                </a:cubicBezTo>
                <a:cubicBezTo>
                  <a:pt x="6838" y="10727"/>
                  <a:pt x="6855" y="10729"/>
                  <a:pt x="6874" y="10729"/>
                </a:cubicBezTo>
                <a:cubicBezTo>
                  <a:pt x="7023" y="10729"/>
                  <a:pt x="7156" y="10621"/>
                  <a:pt x="7183" y="10470"/>
                </a:cubicBezTo>
                <a:lnTo>
                  <a:pt x="7544" y="8459"/>
                </a:lnTo>
                <a:cubicBezTo>
                  <a:pt x="7894" y="8442"/>
                  <a:pt x="8237" y="8287"/>
                  <a:pt x="8488" y="8024"/>
                </a:cubicBezTo>
                <a:cubicBezTo>
                  <a:pt x="8532" y="7977"/>
                  <a:pt x="8589" y="7952"/>
                  <a:pt x="8647" y="7952"/>
                </a:cubicBezTo>
                <a:cubicBezTo>
                  <a:pt x="8657" y="7952"/>
                  <a:pt x="8667" y="7952"/>
                  <a:pt x="8677" y="7954"/>
                </a:cubicBezTo>
                <a:cubicBezTo>
                  <a:pt x="8743" y="7964"/>
                  <a:pt x="8810" y="7969"/>
                  <a:pt x="8878" y="7969"/>
                </a:cubicBezTo>
                <a:cubicBezTo>
                  <a:pt x="9163" y="7969"/>
                  <a:pt x="9451" y="7880"/>
                  <a:pt x="9691" y="7714"/>
                </a:cubicBezTo>
                <a:cubicBezTo>
                  <a:pt x="10001" y="7499"/>
                  <a:pt x="10203" y="7181"/>
                  <a:pt x="10264" y="6819"/>
                </a:cubicBezTo>
                <a:cubicBezTo>
                  <a:pt x="10294" y="6649"/>
                  <a:pt x="10292" y="6477"/>
                  <a:pt x="10260" y="6309"/>
                </a:cubicBezTo>
                <a:cubicBezTo>
                  <a:pt x="10512" y="6101"/>
                  <a:pt x="10684" y="5810"/>
                  <a:pt x="10743" y="5482"/>
                </a:cubicBezTo>
                <a:cubicBezTo>
                  <a:pt x="10802" y="5155"/>
                  <a:pt x="10741" y="4822"/>
                  <a:pt x="10578" y="4538"/>
                </a:cubicBezTo>
                <a:cubicBezTo>
                  <a:pt x="10662" y="4392"/>
                  <a:pt x="10724" y="4229"/>
                  <a:pt x="10754" y="4059"/>
                </a:cubicBezTo>
                <a:cubicBezTo>
                  <a:pt x="10826" y="3655"/>
                  <a:pt x="10716" y="3243"/>
                  <a:pt x="10460" y="2931"/>
                </a:cubicBezTo>
                <a:cubicBezTo>
                  <a:pt x="10502" y="2831"/>
                  <a:pt x="10535" y="2728"/>
                  <a:pt x="10554" y="2621"/>
                </a:cubicBezTo>
                <a:cubicBezTo>
                  <a:pt x="10660" y="2030"/>
                  <a:pt x="10375" y="1445"/>
                  <a:pt x="9862" y="1159"/>
                </a:cubicBezTo>
                <a:cubicBezTo>
                  <a:pt x="9821" y="917"/>
                  <a:pt x="9712" y="683"/>
                  <a:pt x="9545" y="488"/>
                </a:cubicBezTo>
                <a:cubicBezTo>
                  <a:pt x="9331" y="241"/>
                  <a:pt x="9044" y="75"/>
                  <a:pt x="8734" y="24"/>
                </a:cubicBezTo>
                <a:cubicBezTo>
                  <a:pt x="8654" y="9"/>
                  <a:pt x="8572" y="1"/>
                  <a:pt x="8491" y="1"/>
                </a:cubicBezTo>
                <a:cubicBezTo>
                  <a:pt x="8259" y="1"/>
                  <a:pt x="8025" y="62"/>
                  <a:pt x="7813" y="178"/>
                </a:cubicBezTo>
                <a:cubicBezTo>
                  <a:pt x="7589" y="303"/>
                  <a:pt x="7404" y="482"/>
                  <a:pt x="7281" y="697"/>
                </a:cubicBezTo>
                <a:cubicBezTo>
                  <a:pt x="7081" y="727"/>
                  <a:pt x="6890" y="802"/>
                  <a:pt x="6723" y="916"/>
                </a:cubicBezTo>
                <a:cubicBezTo>
                  <a:pt x="6640" y="684"/>
                  <a:pt x="6491" y="477"/>
                  <a:pt x="6292" y="316"/>
                </a:cubicBezTo>
                <a:cubicBezTo>
                  <a:pt x="6042" y="112"/>
                  <a:pt x="5736" y="1"/>
                  <a:pt x="5426" y="1"/>
                </a:cubicBezTo>
                <a:cubicBezTo>
                  <a:pt x="5422" y="1"/>
                  <a:pt x="5418" y="1"/>
                  <a:pt x="5414" y="1"/>
                </a:cubicBezTo>
                <a:lnTo>
                  <a:pt x="5398" y="1"/>
                </a:lnTo>
                <a:cubicBezTo>
                  <a:pt x="5090" y="1"/>
                  <a:pt x="4784" y="112"/>
                  <a:pt x="4534" y="316"/>
                </a:cubicBezTo>
                <a:cubicBezTo>
                  <a:pt x="4335" y="477"/>
                  <a:pt x="4187" y="684"/>
                  <a:pt x="4103" y="916"/>
                </a:cubicBezTo>
                <a:cubicBezTo>
                  <a:pt x="3934" y="803"/>
                  <a:pt x="3745" y="729"/>
                  <a:pt x="3545" y="697"/>
                </a:cubicBezTo>
                <a:cubicBezTo>
                  <a:pt x="3421" y="483"/>
                  <a:pt x="3237" y="303"/>
                  <a:pt x="3013" y="178"/>
                </a:cubicBezTo>
                <a:cubicBezTo>
                  <a:pt x="2802" y="61"/>
                  <a:pt x="2569" y="1"/>
                  <a:pt x="23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570;p55">
            <a:extLst>
              <a:ext uri="{FF2B5EF4-FFF2-40B4-BE49-F238E27FC236}">
                <a16:creationId xmlns:a16="http://schemas.microsoft.com/office/drawing/2014/main" id="{A0F93ABD-CC3A-868C-0CAE-B858BEEF6E8D}"/>
              </a:ext>
            </a:extLst>
          </p:cNvPr>
          <p:cNvSpPr/>
          <p:nvPr/>
        </p:nvSpPr>
        <p:spPr>
          <a:xfrm>
            <a:off x="2430682" y="1701954"/>
            <a:ext cx="3999904" cy="49375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9005;p76">
            <a:extLst>
              <a:ext uri="{FF2B5EF4-FFF2-40B4-BE49-F238E27FC236}">
                <a16:creationId xmlns:a16="http://schemas.microsoft.com/office/drawing/2014/main" id="{2111C452-8506-F88A-5302-DC1CE7849FE6}"/>
              </a:ext>
            </a:extLst>
          </p:cNvPr>
          <p:cNvGrpSpPr/>
          <p:nvPr/>
        </p:nvGrpSpPr>
        <p:grpSpPr>
          <a:xfrm>
            <a:off x="5273445" y="2763299"/>
            <a:ext cx="310896" cy="320040"/>
            <a:chOff x="-28461325" y="2701925"/>
            <a:chExt cx="272525" cy="293825"/>
          </a:xfrm>
        </p:grpSpPr>
        <p:sp>
          <p:nvSpPr>
            <p:cNvPr id="3" name="Google Shape;9006;p76">
              <a:extLst>
                <a:ext uri="{FF2B5EF4-FFF2-40B4-BE49-F238E27FC236}">
                  <a16:creationId xmlns:a16="http://schemas.microsoft.com/office/drawing/2014/main" id="{5D3EF8B8-4269-3485-2748-3F6752937835}"/>
                </a:ext>
              </a:extLst>
            </p:cNvPr>
            <p:cNvSpPr/>
            <p:nvPr/>
          </p:nvSpPr>
          <p:spPr>
            <a:xfrm>
              <a:off x="-28427475" y="2789200"/>
              <a:ext cx="54375" cy="80525"/>
            </a:xfrm>
            <a:custGeom>
              <a:avLst/>
              <a:gdLst/>
              <a:ahLst/>
              <a:cxnLst/>
              <a:rect l="l" t="t" r="r" b="b"/>
              <a:pathLst>
                <a:path w="2175" h="3221" extrusionOk="0">
                  <a:moveTo>
                    <a:pt x="1805" y="1"/>
                  </a:moveTo>
                  <a:cubicBezTo>
                    <a:pt x="1782" y="1"/>
                    <a:pt x="1758" y="3"/>
                    <a:pt x="1734" y="7"/>
                  </a:cubicBezTo>
                  <a:cubicBezTo>
                    <a:pt x="946" y="164"/>
                    <a:pt x="285" y="826"/>
                    <a:pt x="127" y="1645"/>
                  </a:cubicBezTo>
                  <a:cubicBezTo>
                    <a:pt x="1" y="2275"/>
                    <a:pt x="190" y="2811"/>
                    <a:pt x="348" y="3063"/>
                  </a:cubicBezTo>
                  <a:cubicBezTo>
                    <a:pt x="442" y="3189"/>
                    <a:pt x="537" y="3220"/>
                    <a:pt x="663" y="3220"/>
                  </a:cubicBezTo>
                  <a:cubicBezTo>
                    <a:pt x="694" y="3220"/>
                    <a:pt x="789" y="3220"/>
                    <a:pt x="820" y="3189"/>
                  </a:cubicBezTo>
                  <a:cubicBezTo>
                    <a:pt x="978" y="3126"/>
                    <a:pt x="1072" y="2874"/>
                    <a:pt x="946" y="2716"/>
                  </a:cubicBezTo>
                  <a:cubicBezTo>
                    <a:pt x="820" y="2527"/>
                    <a:pt x="726" y="2181"/>
                    <a:pt x="789" y="1740"/>
                  </a:cubicBezTo>
                  <a:cubicBezTo>
                    <a:pt x="883" y="1173"/>
                    <a:pt x="1356" y="763"/>
                    <a:pt x="1860" y="637"/>
                  </a:cubicBezTo>
                  <a:cubicBezTo>
                    <a:pt x="2049" y="605"/>
                    <a:pt x="2175" y="448"/>
                    <a:pt x="2112" y="227"/>
                  </a:cubicBezTo>
                  <a:cubicBezTo>
                    <a:pt x="2084" y="90"/>
                    <a:pt x="1961" y="1"/>
                    <a:pt x="18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007;p76">
              <a:extLst>
                <a:ext uri="{FF2B5EF4-FFF2-40B4-BE49-F238E27FC236}">
                  <a16:creationId xmlns:a16="http://schemas.microsoft.com/office/drawing/2014/main" id="{E50FD6AA-D09E-9CBF-68E4-FDC4EE4924C3}"/>
                </a:ext>
              </a:extLst>
            </p:cNvPr>
            <p:cNvSpPr/>
            <p:nvPr/>
          </p:nvSpPr>
          <p:spPr>
            <a:xfrm>
              <a:off x="-28362875" y="2824025"/>
              <a:ext cx="124475" cy="103200"/>
            </a:xfrm>
            <a:custGeom>
              <a:avLst/>
              <a:gdLst/>
              <a:ahLst/>
              <a:cxnLst/>
              <a:rect l="l" t="t" r="r" b="b"/>
              <a:pathLst>
                <a:path w="4979" h="4128" extrusionOk="0">
                  <a:moveTo>
                    <a:pt x="3434" y="693"/>
                  </a:moveTo>
                  <a:cubicBezTo>
                    <a:pt x="3844" y="693"/>
                    <a:pt x="4159" y="1008"/>
                    <a:pt x="4159" y="1418"/>
                  </a:cubicBezTo>
                  <a:cubicBezTo>
                    <a:pt x="4159" y="1922"/>
                    <a:pt x="3592" y="2394"/>
                    <a:pt x="2741" y="3056"/>
                  </a:cubicBezTo>
                  <a:cubicBezTo>
                    <a:pt x="2615" y="3151"/>
                    <a:pt x="2521" y="3214"/>
                    <a:pt x="2426" y="3340"/>
                  </a:cubicBezTo>
                  <a:cubicBezTo>
                    <a:pt x="2300" y="3245"/>
                    <a:pt x="2174" y="3182"/>
                    <a:pt x="2111" y="3056"/>
                  </a:cubicBezTo>
                  <a:cubicBezTo>
                    <a:pt x="1229" y="2394"/>
                    <a:pt x="694" y="1922"/>
                    <a:pt x="694" y="1418"/>
                  </a:cubicBezTo>
                  <a:cubicBezTo>
                    <a:pt x="694" y="977"/>
                    <a:pt x="1009" y="693"/>
                    <a:pt x="1387" y="693"/>
                  </a:cubicBezTo>
                  <a:cubicBezTo>
                    <a:pt x="1891" y="693"/>
                    <a:pt x="2111" y="1260"/>
                    <a:pt x="2111" y="1292"/>
                  </a:cubicBezTo>
                  <a:cubicBezTo>
                    <a:pt x="2143" y="1449"/>
                    <a:pt x="2269" y="1512"/>
                    <a:pt x="2426" y="1512"/>
                  </a:cubicBezTo>
                  <a:cubicBezTo>
                    <a:pt x="2584" y="1512"/>
                    <a:pt x="2678" y="1418"/>
                    <a:pt x="2741" y="1292"/>
                  </a:cubicBezTo>
                  <a:cubicBezTo>
                    <a:pt x="2741" y="1260"/>
                    <a:pt x="2930" y="693"/>
                    <a:pt x="3434" y="693"/>
                  </a:cubicBezTo>
                  <a:close/>
                  <a:moveTo>
                    <a:pt x="1387" y="0"/>
                  </a:moveTo>
                  <a:cubicBezTo>
                    <a:pt x="599" y="0"/>
                    <a:pt x="0" y="630"/>
                    <a:pt x="0" y="1418"/>
                  </a:cubicBezTo>
                  <a:cubicBezTo>
                    <a:pt x="0" y="2268"/>
                    <a:pt x="725" y="2835"/>
                    <a:pt x="1702" y="3623"/>
                  </a:cubicBezTo>
                  <a:cubicBezTo>
                    <a:pt x="1859" y="3718"/>
                    <a:pt x="2048" y="3875"/>
                    <a:pt x="2269" y="4033"/>
                  </a:cubicBezTo>
                  <a:cubicBezTo>
                    <a:pt x="2332" y="4064"/>
                    <a:pt x="2426" y="4127"/>
                    <a:pt x="2489" y="4127"/>
                  </a:cubicBezTo>
                  <a:cubicBezTo>
                    <a:pt x="2584" y="4127"/>
                    <a:pt x="2647" y="4064"/>
                    <a:pt x="2741" y="4033"/>
                  </a:cubicBezTo>
                  <a:cubicBezTo>
                    <a:pt x="2930" y="3875"/>
                    <a:pt x="3088" y="3718"/>
                    <a:pt x="3277" y="3623"/>
                  </a:cubicBezTo>
                  <a:cubicBezTo>
                    <a:pt x="4254" y="2835"/>
                    <a:pt x="4978" y="2268"/>
                    <a:pt x="4978" y="1418"/>
                  </a:cubicBezTo>
                  <a:cubicBezTo>
                    <a:pt x="4852" y="630"/>
                    <a:pt x="4222" y="0"/>
                    <a:pt x="3434" y="0"/>
                  </a:cubicBezTo>
                  <a:cubicBezTo>
                    <a:pt x="3056" y="0"/>
                    <a:pt x="2647" y="158"/>
                    <a:pt x="2426" y="504"/>
                  </a:cubicBezTo>
                  <a:cubicBezTo>
                    <a:pt x="2143" y="189"/>
                    <a:pt x="1796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008;p76">
              <a:extLst>
                <a:ext uri="{FF2B5EF4-FFF2-40B4-BE49-F238E27FC236}">
                  <a16:creationId xmlns:a16="http://schemas.microsoft.com/office/drawing/2014/main" id="{581DC847-721E-32CD-5FFA-B52F6F713901}"/>
                </a:ext>
              </a:extLst>
            </p:cNvPr>
            <p:cNvSpPr/>
            <p:nvPr/>
          </p:nvSpPr>
          <p:spPr>
            <a:xfrm>
              <a:off x="-28461325" y="2701925"/>
              <a:ext cx="272525" cy="293825"/>
            </a:xfrm>
            <a:custGeom>
              <a:avLst/>
              <a:gdLst/>
              <a:ahLst/>
              <a:cxnLst/>
              <a:rect l="l" t="t" r="r" b="b"/>
              <a:pathLst>
                <a:path w="10901" h="11753" extrusionOk="0">
                  <a:moveTo>
                    <a:pt x="7845" y="2647"/>
                  </a:moveTo>
                  <a:cubicBezTo>
                    <a:pt x="9168" y="2647"/>
                    <a:pt x="10208" y="3781"/>
                    <a:pt x="10208" y="5136"/>
                  </a:cubicBezTo>
                  <a:cubicBezTo>
                    <a:pt x="10208" y="5577"/>
                    <a:pt x="10145" y="5924"/>
                    <a:pt x="9987" y="6239"/>
                  </a:cubicBezTo>
                  <a:lnTo>
                    <a:pt x="8034" y="10303"/>
                  </a:lnTo>
                  <a:cubicBezTo>
                    <a:pt x="7814" y="10807"/>
                    <a:pt x="7341" y="11090"/>
                    <a:pt x="6837" y="11090"/>
                  </a:cubicBezTo>
                  <a:cubicBezTo>
                    <a:pt x="6396" y="11090"/>
                    <a:pt x="6049" y="10901"/>
                    <a:pt x="5766" y="10555"/>
                  </a:cubicBezTo>
                  <a:cubicBezTo>
                    <a:pt x="5703" y="10460"/>
                    <a:pt x="5608" y="10429"/>
                    <a:pt x="5482" y="10429"/>
                  </a:cubicBezTo>
                  <a:cubicBezTo>
                    <a:pt x="5388" y="10429"/>
                    <a:pt x="5293" y="10460"/>
                    <a:pt x="5230" y="10555"/>
                  </a:cubicBezTo>
                  <a:cubicBezTo>
                    <a:pt x="4947" y="10901"/>
                    <a:pt x="4537" y="11090"/>
                    <a:pt x="4159" y="11090"/>
                  </a:cubicBezTo>
                  <a:cubicBezTo>
                    <a:pt x="3655" y="11090"/>
                    <a:pt x="3182" y="10775"/>
                    <a:pt x="2930" y="10303"/>
                  </a:cubicBezTo>
                  <a:lnTo>
                    <a:pt x="1008" y="6239"/>
                  </a:lnTo>
                  <a:cubicBezTo>
                    <a:pt x="851" y="5892"/>
                    <a:pt x="756" y="5546"/>
                    <a:pt x="756" y="5136"/>
                  </a:cubicBezTo>
                  <a:cubicBezTo>
                    <a:pt x="756" y="3781"/>
                    <a:pt x="1828" y="2647"/>
                    <a:pt x="3119" y="2647"/>
                  </a:cubicBezTo>
                  <a:cubicBezTo>
                    <a:pt x="3970" y="2647"/>
                    <a:pt x="4758" y="3120"/>
                    <a:pt x="5167" y="3876"/>
                  </a:cubicBezTo>
                  <a:cubicBezTo>
                    <a:pt x="5262" y="4002"/>
                    <a:pt x="5325" y="4033"/>
                    <a:pt x="5482" y="4033"/>
                  </a:cubicBezTo>
                  <a:cubicBezTo>
                    <a:pt x="5640" y="4033"/>
                    <a:pt x="5734" y="3970"/>
                    <a:pt x="5797" y="3876"/>
                  </a:cubicBezTo>
                  <a:cubicBezTo>
                    <a:pt x="6238" y="3120"/>
                    <a:pt x="7026" y="2647"/>
                    <a:pt x="7845" y="2647"/>
                  </a:cubicBezTo>
                  <a:close/>
                  <a:moveTo>
                    <a:pt x="6774" y="1"/>
                  </a:moveTo>
                  <a:cubicBezTo>
                    <a:pt x="5829" y="1"/>
                    <a:pt x="5104" y="788"/>
                    <a:pt x="5104" y="1734"/>
                  </a:cubicBezTo>
                  <a:lnTo>
                    <a:pt x="5104" y="2773"/>
                  </a:lnTo>
                  <a:cubicBezTo>
                    <a:pt x="4537" y="2301"/>
                    <a:pt x="3844" y="1986"/>
                    <a:pt x="3088" y="1986"/>
                  </a:cubicBezTo>
                  <a:cubicBezTo>
                    <a:pt x="1386" y="1986"/>
                    <a:pt x="0" y="3403"/>
                    <a:pt x="0" y="5136"/>
                  </a:cubicBezTo>
                  <a:cubicBezTo>
                    <a:pt x="0" y="5609"/>
                    <a:pt x="126" y="6081"/>
                    <a:pt x="315" y="6522"/>
                  </a:cubicBezTo>
                  <a:lnTo>
                    <a:pt x="2269" y="10586"/>
                  </a:lnTo>
                  <a:cubicBezTo>
                    <a:pt x="2615" y="11343"/>
                    <a:pt x="3308" y="11752"/>
                    <a:pt x="4096" y="11752"/>
                  </a:cubicBezTo>
                  <a:cubicBezTo>
                    <a:pt x="4632" y="11752"/>
                    <a:pt x="5104" y="11563"/>
                    <a:pt x="5451" y="11248"/>
                  </a:cubicBezTo>
                  <a:cubicBezTo>
                    <a:pt x="5797" y="11563"/>
                    <a:pt x="6270" y="11752"/>
                    <a:pt x="6774" y="11752"/>
                  </a:cubicBezTo>
                  <a:cubicBezTo>
                    <a:pt x="7561" y="11752"/>
                    <a:pt x="8286" y="11280"/>
                    <a:pt x="8633" y="10586"/>
                  </a:cubicBezTo>
                  <a:lnTo>
                    <a:pt x="10554" y="6522"/>
                  </a:lnTo>
                  <a:cubicBezTo>
                    <a:pt x="10775" y="6081"/>
                    <a:pt x="10901" y="5609"/>
                    <a:pt x="10901" y="5136"/>
                  </a:cubicBezTo>
                  <a:cubicBezTo>
                    <a:pt x="10869" y="3466"/>
                    <a:pt x="9515" y="1986"/>
                    <a:pt x="7814" y="1986"/>
                  </a:cubicBezTo>
                  <a:cubicBezTo>
                    <a:pt x="7057" y="1986"/>
                    <a:pt x="6364" y="2269"/>
                    <a:pt x="5797" y="2773"/>
                  </a:cubicBezTo>
                  <a:lnTo>
                    <a:pt x="5797" y="1734"/>
                  </a:lnTo>
                  <a:cubicBezTo>
                    <a:pt x="5797" y="1135"/>
                    <a:pt x="6238" y="694"/>
                    <a:pt x="6774" y="694"/>
                  </a:cubicBezTo>
                  <a:cubicBezTo>
                    <a:pt x="6994" y="694"/>
                    <a:pt x="7152" y="536"/>
                    <a:pt x="7152" y="347"/>
                  </a:cubicBezTo>
                  <a:cubicBezTo>
                    <a:pt x="7152" y="158"/>
                    <a:pt x="6994" y="1"/>
                    <a:pt x="67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9237;p77">
            <a:extLst>
              <a:ext uri="{FF2B5EF4-FFF2-40B4-BE49-F238E27FC236}">
                <a16:creationId xmlns:a16="http://schemas.microsoft.com/office/drawing/2014/main" id="{F62204E3-B62C-C164-42C5-B52E58FCB96B}"/>
              </a:ext>
            </a:extLst>
          </p:cNvPr>
          <p:cNvGrpSpPr/>
          <p:nvPr/>
        </p:nvGrpSpPr>
        <p:grpSpPr>
          <a:xfrm>
            <a:off x="7660900" y="2743703"/>
            <a:ext cx="320040" cy="320040"/>
            <a:chOff x="-60987050" y="2671400"/>
            <a:chExt cx="315850" cy="318825"/>
          </a:xfrm>
        </p:grpSpPr>
        <p:sp>
          <p:nvSpPr>
            <p:cNvPr id="8" name="Google Shape;9238;p77">
              <a:extLst>
                <a:ext uri="{FF2B5EF4-FFF2-40B4-BE49-F238E27FC236}">
                  <a16:creationId xmlns:a16="http://schemas.microsoft.com/office/drawing/2014/main" id="{288E102F-BFD9-CD6B-762E-22FD710BDAC2}"/>
                </a:ext>
              </a:extLst>
            </p:cNvPr>
            <p:cNvSpPr/>
            <p:nvPr/>
          </p:nvSpPr>
          <p:spPr>
            <a:xfrm>
              <a:off x="-60987050" y="2671400"/>
              <a:ext cx="315850" cy="318825"/>
            </a:xfrm>
            <a:custGeom>
              <a:avLst/>
              <a:gdLst/>
              <a:ahLst/>
              <a:cxnLst/>
              <a:rect l="l" t="t" r="r" b="b"/>
              <a:pathLst>
                <a:path w="12634" h="12753" extrusionOk="0">
                  <a:moveTo>
                    <a:pt x="6270" y="844"/>
                  </a:moveTo>
                  <a:lnTo>
                    <a:pt x="11783" y="3175"/>
                  </a:lnTo>
                  <a:lnTo>
                    <a:pt x="11783" y="4152"/>
                  </a:lnTo>
                  <a:lnTo>
                    <a:pt x="757" y="4152"/>
                  </a:lnTo>
                  <a:lnTo>
                    <a:pt x="757" y="3175"/>
                  </a:lnTo>
                  <a:lnTo>
                    <a:pt x="6270" y="844"/>
                  </a:lnTo>
                  <a:close/>
                  <a:moveTo>
                    <a:pt x="2552" y="5002"/>
                  </a:moveTo>
                  <a:lnTo>
                    <a:pt x="2552" y="10232"/>
                  </a:lnTo>
                  <a:lnTo>
                    <a:pt x="1733" y="10232"/>
                  </a:lnTo>
                  <a:lnTo>
                    <a:pt x="1733" y="5002"/>
                  </a:lnTo>
                  <a:close/>
                  <a:moveTo>
                    <a:pt x="5041" y="5002"/>
                  </a:moveTo>
                  <a:lnTo>
                    <a:pt x="5041" y="10232"/>
                  </a:lnTo>
                  <a:lnTo>
                    <a:pt x="3403" y="10232"/>
                  </a:lnTo>
                  <a:lnTo>
                    <a:pt x="3403" y="5002"/>
                  </a:lnTo>
                  <a:close/>
                  <a:moveTo>
                    <a:pt x="6711" y="5002"/>
                  </a:moveTo>
                  <a:lnTo>
                    <a:pt x="6711" y="10232"/>
                  </a:lnTo>
                  <a:lnTo>
                    <a:pt x="5860" y="10232"/>
                  </a:lnTo>
                  <a:lnTo>
                    <a:pt x="5860" y="5002"/>
                  </a:lnTo>
                  <a:close/>
                  <a:moveTo>
                    <a:pt x="9168" y="5002"/>
                  </a:moveTo>
                  <a:lnTo>
                    <a:pt x="9168" y="10232"/>
                  </a:lnTo>
                  <a:lnTo>
                    <a:pt x="7530" y="10232"/>
                  </a:lnTo>
                  <a:lnTo>
                    <a:pt x="7530" y="5002"/>
                  </a:lnTo>
                  <a:close/>
                  <a:moveTo>
                    <a:pt x="10838" y="5002"/>
                  </a:moveTo>
                  <a:lnTo>
                    <a:pt x="10838" y="10232"/>
                  </a:lnTo>
                  <a:lnTo>
                    <a:pt x="10019" y="10232"/>
                  </a:lnTo>
                  <a:lnTo>
                    <a:pt x="10019" y="5002"/>
                  </a:lnTo>
                  <a:close/>
                  <a:moveTo>
                    <a:pt x="11374" y="11020"/>
                  </a:moveTo>
                  <a:cubicBezTo>
                    <a:pt x="11594" y="11051"/>
                    <a:pt x="11783" y="11209"/>
                    <a:pt x="11783" y="11461"/>
                  </a:cubicBezTo>
                  <a:lnTo>
                    <a:pt x="11783" y="11870"/>
                  </a:lnTo>
                  <a:lnTo>
                    <a:pt x="757" y="11870"/>
                  </a:lnTo>
                  <a:lnTo>
                    <a:pt x="757" y="11461"/>
                  </a:lnTo>
                  <a:cubicBezTo>
                    <a:pt x="757" y="11209"/>
                    <a:pt x="946" y="11020"/>
                    <a:pt x="1198" y="11020"/>
                  </a:cubicBezTo>
                  <a:close/>
                  <a:moveTo>
                    <a:pt x="6290" y="1"/>
                  </a:moveTo>
                  <a:cubicBezTo>
                    <a:pt x="6238" y="1"/>
                    <a:pt x="6191" y="9"/>
                    <a:pt x="6144" y="25"/>
                  </a:cubicBezTo>
                  <a:lnTo>
                    <a:pt x="252" y="2514"/>
                  </a:lnTo>
                  <a:cubicBezTo>
                    <a:pt x="95" y="2577"/>
                    <a:pt x="0" y="2703"/>
                    <a:pt x="0" y="2892"/>
                  </a:cubicBezTo>
                  <a:lnTo>
                    <a:pt x="0" y="4561"/>
                  </a:lnTo>
                  <a:cubicBezTo>
                    <a:pt x="0" y="4782"/>
                    <a:pt x="189" y="5002"/>
                    <a:pt x="410" y="5002"/>
                  </a:cubicBezTo>
                  <a:lnTo>
                    <a:pt x="946" y="5002"/>
                  </a:lnTo>
                  <a:lnTo>
                    <a:pt x="946" y="10264"/>
                  </a:lnTo>
                  <a:cubicBezTo>
                    <a:pt x="410" y="10390"/>
                    <a:pt x="0" y="10894"/>
                    <a:pt x="0" y="11492"/>
                  </a:cubicBezTo>
                  <a:lnTo>
                    <a:pt x="0" y="12311"/>
                  </a:lnTo>
                  <a:cubicBezTo>
                    <a:pt x="0" y="12532"/>
                    <a:pt x="189" y="12753"/>
                    <a:pt x="410" y="12753"/>
                  </a:cubicBezTo>
                  <a:lnTo>
                    <a:pt x="12256" y="12753"/>
                  </a:lnTo>
                  <a:cubicBezTo>
                    <a:pt x="12476" y="12753"/>
                    <a:pt x="12634" y="12532"/>
                    <a:pt x="12634" y="12311"/>
                  </a:cubicBezTo>
                  <a:lnTo>
                    <a:pt x="12634" y="11492"/>
                  </a:lnTo>
                  <a:cubicBezTo>
                    <a:pt x="12634" y="10894"/>
                    <a:pt x="12256" y="10390"/>
                    <a:pt x="11689" y="10264"/>
                  </a:cubicBezTo>
                  <a:lnTo>
                    <a:pt x="11689" y="5002"/>
                  </a:lnTo>
                  <a:lnTo>
                    <a:pt x="12256" y="5002"/>
                  </a:lnTo>
                  <a:cubicBezTo>
                    <a:pt x="12476" y="5002"/>
                    <a:pt x="12634" y="4782"/>
                    <a:pt x="12634" y="4561"/>
                  </a:cubicBezTo>
                  <a:lnTo>
                    <a:pt x="12634" y="2892"/>
                  </a:lnTo>
                  <a:cubicBezTo>
                    <a:pt x="12602" y="2734"/>
                    <a:pt x="12539" y="2577"/>
                    <a:pt x="12382" y="2514"/>
                  </a:cubicBezTo>
                  <a:lnTo>
                    <a:pt x="6459" y="25"/>
                  </a:lnTo>
                  <a:cubicBezTo>
                    <a:pt x="6396" y="9"/>
                    <a:pt x="6341" y="1"/>
                    <a:pt x="6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239;p77">
              <a:extLst>
                <a:ext uri="{FF2B5EF4-FFF2-40B4-BE49-F238E27FC236}">
                  <a16:creationId xmlns:a16="http://schemas.microsoft.com/office/drawing/2014/main" id="{B160267D-3A57-31A0-9437-AB591C08B0A6}"/>
                </a:ext>
              </a:extLst>
            </p:cNvPr>
            <p:cNvSpPr/>
            <p:nvPr/>
          </p:nvSpPr>
          <p:spPr>
            <a:xfrm>
              <a:off x="-60839775" y="27310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0"/>
                  </a:moveTo>
                  <a:cubicBezTo>
                    <a:pt x="158" y="0"/>
                    <a:pt x="1" y="190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9" y="599"/>
                    <a:pt x="789" y="379"/>
                  </a:cubicBezTo>
                  <a:cubicBezTo>
                    <a:pt x="789" y="190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14831862"/>
      </p:ext>
    </p:extLst>
  </p:cSld>
  <p:clrMapOvr>
    <a:masterClrMapping/>
  </p:clrMapOvr>
</p:sld>
</file>

<file path=ppt/theme/theme1.xml><?xml version="1.0" encoding="utf-8"?>
<a:theme xmlns:a="http://schemas.openxmlformats.org/drawingml/2006/main" name="Healthy Eating in America Thesis Defense by Slidesgo">
  <a:themeElements>
    <a:clrScheme name="Simple Light">
      <a:dk1>
        <a:srgbClr val="333333"/>
      </a:dk1>
      <a:lt1>
        <a:srgbClr val="F4F4F4"/>
      </a:lt1>
      <a:dk2>
        <a:srgbClr val="FCB54B"/>
      </a:dk2>
      <a:lt2>
        <a:srgbClr val="F59048"/>
      </a:lt2>
      <a:accent1>
        <a:srgbClr val="E3916E"/>
      </a:accent1>
      <a:accent2>
        <a:srgbClr val="FA93B7"/>
      </a:accent2>
      <a:accent3>
        <a:srgbClr val="E86851"/>
      </a:accent3>
      <a:accent4>
        <a:srgbClr val="7EA392"/>
      </a:accent4>
      <a:accent5>
        <a:srgbClr val="277077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297</Words>
  <Application>Microsoft Office PowerPoint</Application>
  <PresentationFormat>On-screen Show (16:9)</PresentationFormat>
  <Paragraphs>46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Bebas Neue</vt:lpstr>
      <vt:lpstr>Cambria Math</vt:lpstr>
      <vt:lpstr>Arial</vt:lpstr>
      <vt:lpstr>Wingdings</vt:lpstr>
      <vt:lpstr>Alexandria</vt:lpstr>
      <vt:lpstr>Alexandria Light</vt:lpstr>
      <vt:lpstr>Lato</vt:lpstr>
      <vt:lpstr>Healthy Eating in America Thesis Defense by Slidesgo</vt:lpstr>
      <vt:lpstr>Food Access Program Deployment Plan</vt:lpstr>
      <vt:lpstr>Overview</vt:lpstr>
      <vt:lpstr>Areas of Deployment</vt:lpstr>
      <vt:lpstr>Demographic Breakdown by Tier</vt:lpstr>
      <vt:lpstr>Effects of the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Winnie Lau</cp:lastModifiedBy>
  <cp:revision>8</cp:revision>
  <dcterms:modified xsi:type="dcterms:W3CDTF">2026-01-19T04:48:06Z</dcterms:modified>
</cp:coreProperties>
</file>